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7"/>
  </p:notesMasterIdLst>
  <p:handoutMasterIdLst>
    <p:handoutMasterId r:id="rId28"/>
  </p:handoutMasterIdLst>
  <p:sldIdLst>
    <p:sldId id="256" r:id="rId5"/>
    <p:sldId id="258" r:id="rId6"/>
    <p:sldId id="280" r:id="rId7"/>
    <p:sldId id="281" r:id="rId8"/>
    <p:sldId id="282" r:id="rId9"/>
    <p:sldId id="286" r:id="rId10"/>
    <p:sldId id="287" r:id="rId11"/>
    <p:sldId id="266" r:id="rId12"/>
    <p:sldId id="288" r:id="rId13"/>
    <p:sldId id="293" r:id="rId14"/>
    <p:sldId id="294" r:id="rId15"/>
    <p:sldId id="295" r:id="rId16"/>
    <p:sldId id="296" r:id="rId17"/>
    <p:sldId id="297" r:id="rId18"/>
    <p:sldId id="298" r:id="rId19"/>
    <p:sldId id="299" r:id="rId20"/>
    <p:sldId id="300" r:id="rId21"/>
    <p:sldId id="284" r:id="rId22"/>
    <p:sldId id="289" r:id="rId23"/>
    <p:sldId id="285" r:id="rId24"/>
    <p:sldId id="290" r:id="rId25"/>
    <p:sldId id="27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655" autoAdjust="0"/>
  </p:normalViewPr>
  <p:slideViewPr>
    <p:cSldViewPr snapToGrid="0">
      <p:cViewPr varScale="1">
        <p:scale>
          <a:sx n="75" d="100"/>
          <a:sy n="75" d="100"/>
        </p:scale>
        <p:origin x="974" y="48"/>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7/3/2026</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7/3/2026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2843954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2066144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4</a:t>
            </a:fld>
            <a:endParaRPr lang="en-US" dirty="0"/>
          </a:p>
        </p:txBody>
      </p:sp>
    </p:spTree>
    <p:extLst>
      <p:ext uri="{BB962C8B-B14F-4D97-AF65-F5344CB8AC3E}">
        <p14:creationId xmlns:p14="http://schemas.microsoft.com/office/powerpoint/2010/main" val="1025326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236659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3ECE5-BE2B-EE7C-9BD8-E5593499A2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8D81EA-1E62-A24E-689F-244B18758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7A983E-A6E5-021E-0095-EE14AF4447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60D1DD-ABED-CB02-2BB9-EC3C79490573}"/>
              </a:ext>
            </a:extLst>
          </p:cNvPr>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1233372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3DB30-1EF6-7E25-F632-81B537B6F9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4CFD26-B1BB-B991-80D1-E110227FCA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9546F4-6C87-E00E-3CE9-06EA86A1E6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D99BCC-D9AC-852F-8E53-A8439ADFA22E}"/>
              </a:ext>
            </a:extLst>
          </p:cNvPr>
          <p:cNvSpPr>
            <a:spLocks noGrp="1"/>
          </p:cNvSpPr>
          <p:nvPr>
            <p:ph type="sldNum" sz="quarter" idx="5"/>
          </p:nvPr>
        </p:nvSpPr>
        <p:spPr/>
        <p:txBody>
          <a:bodyPr/>
          <a:lstStyle/>
          <a:p>
            <a:fld id="{22289C57-55D7-40A4-A101-E74FAC7A092B}" type="slidenum">
              <a:rPr lang="en-US" smtClean="0"/>
              <a:t>7</a:t>
            </a:fld>
            <a:endParaRPr lang="en-US" dirty="0"/>
          </a:p>
        </p:txBody>
      </p:sp>
    </p:spTree>
    <p:extLst>
      <p:ext uri="{BB962C8B-B14F-4D97-AF65-F5344CB8AC3E}">
        <p14:creationId xmlns:p14="http://schemas.microsoft.com/office/powerpoint/2010/main" val="2076070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8</a:t>
            </a:fld>
            <a:endParaRPr lang="en-US" dirty="0"/>
          </a:p>
        </p:txBody>
      </p:sp>
    </p:spTree>
    <p:extLst>
      <p:ext uri="{BB962C8B-B14F-4D97-AF65-F5344CB8AC3E}">
        <p14:creationId xmlns:p14="http://schemas.microsoft.com/office/powerpoint/2010/main" val="3105683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0F092-A074-EB95-8D6D-2B78E946B1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3EBA33-7871-A1A5-571A-5D79F5CC11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CE0989-537A-4C4D-4235-F965B2E637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A88A7A-760D-F5F9-1717-23BF053B80FA}"/>
              </a:ext>
            </a:extLst>
          </p:cNvPr>
          <p:cNvSpPr>
            <a:spLocks noGrp="1"/>
          </p:cNvSpPr>
          <p:nvPr>
            <p:ph type="sldNum" sz="quarter" idx="5"/>
          </p:nvPr>
        </p:nvSpPr>
        <p:spPr/>
        <p:txBody>
          <a:bodyPr/>
          <a:lstStyle/>
          <a:p>
            <a:fld id="{22289C57-55D7-40A4-A101-E74FAC7A092B}" type="slidenum">
              <a:rPr lang="en-US" smtClean="0"/>
              <a:t>9</a:t>
            </a:fld>
            <a:endParaRPr lang="en-US" dirty="0"/>
          </a:p>
        </p:txBody>
      </p:sp>
    </p:spTree>
    <p:extLst>
      <p:ext uri="{BB962C8B-B14F-4D97-AF65-F5344CB8AC3E}">
        <p14:creationId xmlns:p14="http://schemas.microsoft.com/office/powerpoint/2010/main" val="1867968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18</a:t>
            </a:fld>
            <a:endParaRPr lang="en-US" dirty="0"/>
          </a:p>
        </p:txBody>
      </p:sp>
    </p:spTree>
    <p:extLst>
      <p:ext uri="{BB962C8B-B14F-4D97-AF65-F5344CB8AC3E}">
        <p14:creationId xmlns:p14="http://schemas.microsoft.com/office/powerpoint/2010/main" val="5754654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FB603-311F-B262-5E4B-2297F9C7D5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780C4E-9357-C15B-1C56-7A1D3749F2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3B3C9-199D-DF5F-0535-3F3AFB3AFE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C9D0B3-AD90-A5D8-814E-169237F9437D}"/>
              </a:ext>
            </a:extLst>
          </p:cNvPr>
          <p:cNvSpPr>
            <a:spLocks noGrp="1"/>
          </p:cNvSpPr>
          <p:nvPr>
            <p:ph type="sldNum" sz="quarter" idx="5"/>
          </p:nvPr>
        </p:nvSpPr>
        <p:spPr/>
        <p:txBody>
          <a:bodyPr/>
          <a:lstStyle/>
          <a:p>
            <a:fld id="{22289C57-55D7-40A4-A101-E74FAC7A092B}" type="slidenum">
              <a:rPr lang="en-US" smtClean="0"/>
              <a:t>19</a:t>
            </a:fld>
            <a:endParaRPr lang="en-US" dirty="0"/>
          </a:p>
        </p:txBody>
      </p:sp>
    </p:spTree>
    <p:extLst>
      <p:ext uri="{BB962C8B-B14F-4D97-AF65-F5344CB8AC3E}">
        <p14:creationId xmlns:p14="http://schemas.microsoft.com/office/powerpoint/2010/main" val="1946929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20</a:t>
            </a:fld>
            <a:endParaRPr lang="en-US" dirty="0"/>
          </a:p>
        </p:txBody>
      </p:sp>
    </p:spTree>
    <p:extLst>
      <p:ext uri="{BB962C8B-B14F-4D97-AF65-F5344CB8AC3E}">
        <p14:creationId xmlns:p14="http://schemas.microsoft.com/office/powerpoint/2010/main" val="537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67D0F-D820-162C-B480-E82DEECE8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93F53A-BB61-1C7A-2D74-234F5F1FA3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53CE22-A935-DE17-F3FE-B767918529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E62E1C-DB23-A166-7888-08B0212C6C8A}"/>
              </a:ext>
            </a:extLst>
          </p:cNvPr>
          <p:cNvSpPr>
            <a:spLocks noGrp="1"/>
          </p:cNvSpPr>
          <p:nvPr>
            <p:ph type="sldNum" sz="quarter" idx="5"/>
          </p:nvPr>
        </p:nvSpPr>
        <p:spPr/>
        <p:txBody>
          <a:bodyPr/>
          <a:lstStyle/>
          <a:p>
            <a:fld id="{22289C57-55D7-40A4-A101-E74FAC7A092B}" type="slidenum">
              <a:rPr lang="en-US" smtClean="0"/>
              <a:t>21</a:t>
            </a:fld>
            <a:endParaRPr lang="en-US" dirty="0"/>
          </a:p>
        </p:txBody>
      </p:sp>
    </p:spTree>
    <p:extLst>
      <p:ext uri="{BB962C8B-B14F-4D97-AF65-F5344CB8AC3E}">
        <p14:creationId xmlns:p14="http://schemas.microsoft.com/office/powerpoint/2010/main" val="21569762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22</a:t>
            </a:fld>
            <a:endParaRPr lang="en-US" dirty="0"/>
          </a:p>
        </p:txBody>
      </p:sp>
    </p:spTree>
    <p:extLst>
      <p:ext uri="{BB962C8B-B14F-4D97-AF65-F5344CB8AC3E}">
        <p14:creationId xmlns:p14="http://schemas.microsoft.com/office/powerpoint/2010/main" val="7026838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hyperlink" Target="https://www.atlassian.com/software/jira" TargetMode="External"/><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hyperlink" Target="https://www.atlassian.com/agile"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6441918" y="3329790"/>
            <a:ext cx="4941771" cy="3200400"/>
          </a:xfrm>
        </p:spPr>
        <p:txBody>
          <a:bodyPr anchor="ctr"/>
          <a:lstStyle/>
          <a:p>
            <a:r>
              <a:rPr lang="en-IN" dirty="0"/>
              <a:t>AI Career Compass: Product Management Using Jira</a:t>
            </a:r>
            <a:endParaRPr lang="en-US" dirty="0"/>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22318" y="-751839"/>
            <a:ext cx="7288282" cy="1605279"/>
          </a:xfrm>
        </p:spPr>
        <p:txBody>
          <a:bodyPr/>
          <a:lstStyle/>
          <a:p>
            <a:r>
              <a:rPr lang="en-IN" dirty="0"/>
              <a:t>Abstract</a:t>
            </a:r>
            <a:endParaRPr lang="en-US" dirty="0"/>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322388" y="1158240"/>
            <a:ext cx="7288212" cy="5011889"/>
          </a:xfrm>
        </p:spPr>
        <p:txBody>
          <a:bodyPr>
            <a:normAutofit/>
          </a:bodyPr>
          <a:lstStyle/>
          <a:p>
            <a:r>
              <a:rPr lang="en-IN" dirty="0"/>
              <a:t>AI Career Compass is a product management project designed to help users identify suitable career paths based on their skills, interests, and career goals using an AI-driven recommendation approach. </a:t>
            </a:r>
          </a:p>
          <a:p>
            <a:r>
              <a:rPr lang="en-IN" dirty="0"/>
              <a:t>The project follows the Agile Scrum methodology, where the product backlog, epics, user stories, story points, and sprints are planned and managed using Jira to ensure an organized development process. </a:t>
            </a:r>
          </a:p>
          <a:p>
            <a:r>
              <a:rPr lang="en-IN" dirty="0"/>
              <a:t>The project demonstrates essential product management practices such as sprint planning, backlog prioritization, task tracking, and progress monitoring, enabling efficient collaboration and timely delivery of project features. </a:t>
            </a:r>
          </a:p>
          <a:p>
            <a:r>
              <a:rPr lang="en-IN" dirty="0"/>
              <a:t>The successful implementation of Agile practices and Jira provides a structured workflow, improves project visibility, and enhances team productivity, making the project suitable for real-world software product development</a:t>
            </a:r>
            <a:endParaRPr lang="en-US" dirty="0"/>
          </a:p>
        </p:txBody>
      </p:sp>
    </p:spTree>
    <p:extLst>
      <p:ext uri="{BB962C8B-B14F-4D97-AF65-F5344CB8AC3E}">
        <p14:creationId xmlns:p14="http://schemas.microsoft.com/office/powerpoint/2010/main" val="3571516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C97BE-403B-122E-90D1-2788978A0B6F}"/>
              </a:ext>
            </a:extLst>
          </p:cNvPr>
          <p:cNvSpPr>
            <a:spLocks noGrp="1"/>
          </p:cNvSpPr>
          <p:nvPr>
            <p:ph type="ctrTitle"/>
          </p:nvPr>
        </p:nvSpPr>
        <p:spPr>
          <a:xfrm>
            <a:off x="4815840" y="1107441"/>
            <a:ext cx="6426200" cy="924560"/>
          </a:xfrm>
        </p:spPr>
        <p:txBody>
          <a:bodyPr/>
          <a:lstStyle/>
          <a:p>
            <a:pPr algn="ctr"/>
            <a:r>
              <a:rPr lang="en-IN" dirty="0"/>
              <a:t>     problem statement</a:t>
            </a:r>
            <a:endParaRPr lang="en-US" dirty="0"/>
          </a:p>
        </p:txBody>
      </p:sp>
      <p:sp>
        <p:nvSpPr>
          <p:cNvPr id="3" name="Title 1">
            <a:extLst>
              <a:ext uri="{FF2B5EF4-FFF2-40B4-BE49-F238E27FC236}">
                <a16:creationId xmlns:a16="http://schemas.microsoft.com/office/drawing/2014/main" id="{F5815901-4A77-9F59-7411-62B3F76DEA6A}"/>
              </a:ext>
            </a:extLst>
          </p:cNvPr>
          <p:cNvSpPr txBox="1">
            <a:spLocks/>
          </p:cNvSpPr>
          <p:nvPr/>
        </p:nvSpPr>
        <p:spPr>
          <a:xfrm>
            <a:off x="5821680" y="2661920"/>
            <a:ext cx="6370320" cy="251968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kern="1200" cap="all" spc="150" baseline="0">
                <a:solidFill>
                  <a:schemeClr val="bg1"/>
                </a:solidFill>
                <a:latin typeface="+mj-lt"/>
                <a:ea typeface="+mj-ea"/>
                <a:cs typeface="+mj-cs"/>
              </a:defRPr>
            </a:lvl1pPr>
          </a:lstStyle>
          <a:p>
            <a:r>
              <a:rPr lang="en-IN" sz="1400" b="1" dirty="0"/>
              <a:t>Many students and job seekers face difficulty in choosing the right career path due to a lack of personalized career guidance and limited understanding of their skills and interests.</a:t>
            </a:r>
            <a:r>
              <a:rPr lang="en-IN" sz="1400" dirty="0"/>
              <a:t> </a:t>
            </a:r>
          </a:p>
          <a:p>
            <a:endParaRPr lang="en-IN" sz="1400" b="1" dirty="0"/>
          </a:p>
          <a:p>
            <a:r>
              <a:rPr lang="en-IN" sz="1400" b="1" dirty="0"/>
              <a:t>Traditional career </a:t>
            </a:r>
            <a:r>
              <a:rPr lang="en-IN" sz="1400" b="1" dirty="0" err="1"/>
              <a:t>counseling</a:t>
            </a:r>
            <a:r>
              <a:rPr lang="en-IN" sz="1400" b="1" dirty="0"/>
              <a:t> methods are often time-consuming, expensive, and unable to provide real-time, data-driven recommendations tailored to individual users.</a:t>
            </a:r>
            <a:r>
              <a:rPr lang="en-IN" sz="1400" dirty="0"/>
              <a:t> </a:t>
            </a:r>
          </a:p>
          <a:p>
            <a:endParaRPr lang="en-IN" sz="1400" b="1" dirty="0"/>
          </a:p>
          <a:p>
            <a:r>
              <a:rPr lang="en-IN" sz="1400" b="1" dirty="0"/>
              <a:t>Managing the development of a career guidance platform without a structured product management approach can lead to poor requirement tracking, inefficient collaboration, and delays in project delivery.</a:t>
            </a:r>
            <a:endParaRPr lang="en-US" sz="1400" dirty="0"/>
          </a:p>
        </p:txBody>
      </p:sp>
    </p:spTree>
    <p:extLst>
      <p:ext uri="{BB962C8B-B14F-4D97-AF65-F5344CB8AC3E}">
        <p14:creationId xmlns:p14="http://schemas.microsoft.com/office/powerpoint/2010/main" val="334696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E2E6A-35EC-1B8E-0FD7-8C67870ACA64}"/>
              </a:ext>
            </a:extLst>
          </p:cNvPr>
          <p:cNvSpPr>
            <a:spLocks noGrp="1"/>
          </p:cNvSpPr>
          <p:nvPr>
            <p:ph type="title"/>
          </p:nvPr>
        </p:nvSpPr>
        <p:spPr>
          <a:xfrm>
            <a:off x="2933700" y="568961"/>
            <a:ext cx="8420100" cy="1780860"/>
          </a:xfrm>
        </p:spPr>
        <p:txBody>
          <a:bodyPr/>
          <a:lstStyle/>
          <a:p>
            <a:r>
              <a:rPr lang="en-IN" dirty="0"/>
              <a:t>Objectives</a:t>
            </a:r>
            <a:endParaRPr lang="en-US" dirty="0"/>
          </a:p>
        </p:txBody>
      </p:sp>
      <p:sp>
        <p:nvSpPr>
          <p:cNvPr id="35" name="Content Placeholder 34">
            <a:extLst>
              <a:ext uri="{FF2B5EF4-FFF2-40B4-BE49-F238E27FC236}">
                <a16:creationId xmlns:a16="http://schemas.microsoft.com/office/drawing/2014/main" id="{EDBE6233-75E9-40D1-968F-58CA9AD0FF50}"/>
              </a:ext>
            </a:extLst>
          </p:cNvPr>
          <p:cNvSpPr>
            <a:spLocks noGrp="1"/>
          </p:cNvSpPr>
          <p:nvPr>
            <p:ph sz="half" idx="13"/>
          </p:nvPr>
        </p:nvSpPr>
        <p:spPr>
          <a:xfrm>
            <a:off x="3025140" y="2509916"/>
            <a:ext cx="8973820" cy="4211558"/>
          </a:xfrm>
        </p:spPr>
        <p:txBody>
          <a:bodyPr>
            <a:normAutofit/>
          </a:bodyPr>
          <a:lstStyle/>
          <a:p>
            <a:r>
              <a:rPr lang="en-IN" b="1" dirty="0"/>
              <a:t>To design and manage the AI Career Compass project using Agile Scrum methodology and Jira for efficient project planning and execution.</a:t>
            </a:r>
            <a:r>
              <a:rPr lang="en-IN" dirty="0"/>
              <a:t> </a:t>
            </a:r>
          </a:p>
          <a:p>
            <a:r>
              <a:rPr lang="en-IN" b="1" dirty="0"/>
              <a:t>To create and organize the product backlog, epics, user stories, and sprint plans for effective requirement management.</a:t>
            </a:r>
            <a:r>
              <a:rPr lang="en-IN" dirty="0"/>
              <a:t> </a:t>
            </a:r>
          </a:p>
          <a:p>
            <a:r>
              <a:rPr lang="en-IN" b="1" dirty="0"/>
              <a:t>To monitor project progress by estimating story points, managing sprint workflows, and tracking task status through Jira boards.</a:t>
            </a:r>
            <a:r>
              <a:rPr lang="en-IN" dirty="0"/>
              <a:t> </a:t>
            </a:r>
          </a:p>
          <a:p>
            <a:r>
              <a:rPr lang="en-IN" b="1" dirty="0"/>
              <a:t>To improve collaboration, productivity, and timely delivery of project features by following structured product management practices.</a:t>
            </a:r>
            <a:endParaRPr lang="en-US" dirty="0"/>
          </a:p>
        </p:txBody>
      </p:sp>
    </p:spTree>
    <p:extLst>
      <p:ext uri="{BB962C8B-B14F-4D97-AF65-F5344CB8AC3E}">
        <p14:creationId xmlns:p14="http://schemas.microsoft.com/office/powerpoint/2010/main" val="103458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D9B3-B64F-656A-0D99-161A6C0F518F}"/>
              </a:ext>
            </a:extLst>
          </p:cNvPr>
          <p:cNvSpPr>
            <a:spLocks noGrp="1"/>
          </p:cNvSpPr>
          <p:nvPr>
            <p:ph type="title"/>
          </p:nvPr>
        </p:nvSpPr>
        <p:spPr>
          <a:xfrm>
            <a:off x="1341120" y="558801"/>
            <a:ext cx="9953308" cy="1780860"/>
          </a:xfrm>
        </p:spPr>
        <p:txBody>
          <a:bodyPr/>
          <a:lstStyle/>
          <a:p>
            <a:r>
              <a:rPr lang="en-IN" dirty="0"/>
              <a:t>Existing System</a:t>
            </a:r>
            <a:endParaRPr lang="en-US" dirty="0"/>
          </a:p>
        </p:txBody>
      </p:sp>
      <p:sp>
        <p:nvSpPr>
          <p:cNvPr id="36" name="Content Placeholder 35">
            <a:extLst>
              <a:ext uri="{FF2B5EF4-FFF2-40B4-BE49-F238E27FC236}">
                <a16:creationId xmlns:a16="http://schemas.microsoft.com/office/drawing/2014/main" id="{E71298F0-74F1-FECA-0F02-495F9A2EBA7B}"/>
              </a:ext>
            </a:extLst>
          </p:cNvPr>
          <p:cNvSpPr>
            <a:spLocks noGrp="1"/>
          </p:cNvSpPr>
          <p:nvPr>
            <p:ph sz="half" idx="15"/>
          </p:nvPr>
        </p:nvSpPr>
        <p:spPr>
          <a:xfrm>
            <a:off x="1341120" y="2509520"/>
            <a:ext cx="10464800" cy="4043680"/>
          </a:xfrm>
        </p:spPr>
        <p:txBody>
          <a:bodyPr>
            <a:normAutofit/>
          </a:bodyPr>
          <a:lstStyle/>
          <a:p>
            <a:r>
              <a:rPr lang="en-IN" b="1" dirty="0"/>
              <a:t>Traditional career guidance mainly relies on manual </a:t>
            </a:r>
            <a:r>
              <a:rPr lang="en-IN" b="1" dirty="0" err="1"/>
              <a:t>counseling</a:t>
            </a:r>
            <a:r>
              <a:rPr lang="en-IN" b="1" dirty="0"/>
              <a:t>, online research, and generic aptitude tests, which often provide limited personalized recommendations.</a:t>
            </a:r>
            <a:r>
              <a:rPr lang="en-IN" dirty="0"/>
              <a:t> </a:t>
            </a:r>
          </a:p>
          <a:p>
            <a:r>
              <a:rPr lang="en-IN" b="1" dirty="0"/>
              <a:t>Many organizations manage software projects using spreadsheets, emails, or unstructured documentation, making it difficult to track requirements, tasks, and project progress.</a:t>
            </a:r>
            <a:r>
              <a:rPr lang="en-IN" dirty="0"/>
              <a:t> </a:t>
            </a:r>
          </a:p>
          <a:p>
            <a:r>
              <a:rPr lang="en-IN" b="1" dirty="0"/>
              <a:t>Without Agile tools such as Jira, project planning, sprint management, and collaboration become less efficient, leading to communication gaps and delayed delivery.</a:t>
            </a:r>
            <a:r>
              <a:rPr lang="en-IN" dirty="0"/>
              <a:t> </a:t>
            </a:r>
          </a:p>
          <a:p>
            <a:r>
              <a:rPr lang="en-IN" b="1" dirty="0"/>
              <a:t>The existing approach lacks real-time task tracking, backlog management, sprint planning, and transparent progress monitoring, making it challenging to manage product development effectively.</a:t>
            </a:r>
            <a:endParaRPr lang="en-US" dirty="0"/>
          </a:p>
        </p:txBody>
      </p:sp>
    </p:spTree>
    <p:extLst>
      <p:ext uri="{BB962C8B-B14F-4D97-AF65-F5344CB8AC3E}">
        <p14:creationId xmlns:p14="http://schemas.microsoft.com/office/powerpoint/2010/main" val="636929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099B6-D568-21A9-5007-2EAA93F0E8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0FBA8F-CB4C-6A7D-E22E-76807FAE9D59}"/>
              </a:ext>
            </a:extLst>
          </p:cNvPr>
          <p:cNvSpPr>
            <a:spLocks noGrp="1"/>
          </p:cNvSpPr>
          <p:nvPr>
            <p:ph type="title"/>
          </p:nvPr>
        </p:nvSpPr>
        <p:spPr>
          <a:xfrm>
            <a:off x="783838" y="-640079"/>
            <a:ext cx="7288282" cy="1605279"/>
          </a:xfrm>
        </p:spPr>
        <p:txBody>
          <a:bodyPr/>
          <a:lstStyle/>
          <a:p>
            <a:r>
              <a:rPr lang="en-IN" dirty="0"/>
              <a:t>Methodology: Agile Scrum</a:t>
            </a:r>
            <a:endParaRPr lang="en-US" dirty="0"/>
          </a:p>
        </p:txBody>
      </p:sp>
      <p:sp>
        <p:nvSpPr>
          <p:cNvPr id="3" name="Text Placeholder 2">
            <a:extLst>
              <a:ext uri="{FF2B5EF4-FFF2-40B4-BE49-F238E27FC236}">
                <a16:creationId xmlns:a16="http://schemas.microsoft.com/office/drawing/2014/main" id="{101CE7F1-9A40-FB13-A4F9-EB7E8FD696AA}"/>
              </a:ext>
            </a:extLst>
          </p:cNvPr>
          <p:cNvSpPr>
            <a:spLocks noGrp="1"/>
          </p:cNvSpPr>
          <p:nvPr>
            <p:ph sz="half" idx="2"/>
          </p:nvPr>
        </p:nvSpPr>
        <p:spPr>
          <a:xfrm>
            <a:off x="831098" y="1189354"/>
            <a:ext cx="8747760" cy="5445760"/>
          </a:xfrm>
        </p:spPr>
        <p:txBody>
          <a:bodyPr>
            <a:normAutofit fontScale="40000" lnSpcReduction="20000"/>
          </a:bodyPr>
          <a:lstStyle/>
          <a:p>
            <a:r>
              <a:rPr lang="en-IN" sz="4000" dirty="0"/>
              <a:t>Agile Scrum Methodology</a:t>
            </a:r>
          </a:p>
          <a:p>
            <a:r>
              <a:rPr lang="en-IN" sz="2800" dirty="0"/>
              <a:t>The project follows the Agile Scrum methodology, which focuses on iterative development, continuous feedback, and collaboration among team members. The work is divided into short development cycles called Sprints, where features are planned, developed, tested, and reviewed. User requirements are maintained in the Product Backlog, prioritized based on business value, and implemented incrementally. This approach enables flexibility, faster delivery, and continuous improvement throughout the product development lifecycle.</a:t>
            </a:r>
          </a:p>
          <a:p>
            <a:r>
              <a:rPr lang="en-IN" sz="2800" dirty="0"/>
              <a:t>Scrum Workflow</a:t>
            </a:r>
          </a:p>
          <a:p>
            <a:r>
              <a:rPr lang="en-IN" sz="2800" dirty="0"/>
              <a:t>Product Backlog </a:t>
            </a:r>
          </a:p>
          <a:p>
            <a:r>
              <a:rPr lang="en-IN" sz="2800" dirty="0"/>
              <a:t>Sprint Planning </a:t>
            </a:r>
          </a:p>
          <a:p>
            <a:r>
              <a:rPr lang="en-IN" sz="2800" dirty="0"/>
              <a:t>Sprint Backlog </a:t>
            </a:r>
          </a:p>
          <a:p>
            <a:r>
              <a:rPr lang="en-IN" sz="2800" dirty="0"/>
              <a:t>Sprint (Development) </a:t>
            </a:r>
          </a:p>
          <a:p>
            <a:r>
              <a:rPr lang="en-IN" sz="2800" dirty="0"/>
              <a:t>Daily Scrum </a:t>
            </a:r>
          </a:p>
          <a:p>
            <a:r>
              <a:rPr lang="en-IN" sz="2800" dirty="0"/>
              <a:t>Sprint Review </a:t>
            </a:r>
          </a:p>
          <a:p>
            <a:r>
              <a:rPr lang="en-IN" sz="2800" dirty="0"/>
              <a:t>Sprint Retrospective </a:t>
            </a:r>
          </a:p>
          <a:p>
            <a:r>
              <a:rPr lang="en-IN" sz="2800" dirty="0"/>
              <a:t>Product Increment </a:t>
            </a:r>
          </a:p>
          <a:p>
            <a:r>
              <a:rPr lang="en-IN" sz="4000" dirty="0"/>
              <a:t>Benefits of Agile Scrum</a:t>
            </a:r>
          </a:p>
          <a:p>
            <a:r>
              <a:rPr lang="en-IN" sz="2800" dirty="0"/>
              <a:t>Faster and incremental product delivery </a:t>
            </a:r>
          </a:p>
          <a:p>
            <a:r>
              <a:rPr lang="en-IN" sz="2800" dirty="0"/>
              <a:t>Better collaboration among team members </a:t>
            </a:r>
          </a:p>
          <a:p>
            <a:r>
              <a:rPr lang="en-IN" sz="2800" dirty="0"/>
              <a:t>Easy adaptation to changing requirements </a:t>
            </a:r>
          </a:p>
          <a:p>
            <a:r>
              <a:rPr lang="en-IN" sz="2800" dirty="0"/>
              <a:t>Continuous customer feedback </a:t>
            </a:r>
          </a:p>
          <a:p>
            <a:r>
              <a:rPr lang="en-IN" sz="2800" dirty="0"/>
              <a:t>Improved product quality </a:t>
            </a:r>
          </a:p>
          <a:p>
            <a:r>
              <a:rPr lang="en-IN" sz="2800" dirty="0"/>
              <a:t>Better risk management</a:t>
            </a:r>
          </a:p>
          <a:p>
            <a:endParaRPr lang="en-IN" sz="2800" dirty="0"/>
          </a:p>
          <a:p>
            <a:endParaRPr lang="en-IN" sz="2800" dirty="0"/>
          </a:p>
          <a:p>
            <a:endParaRPr lang="en-IN" sz="2800" dirty="0"/>
          </a:p>
        </p:txBody>
      </p:sp>
    </p:spTree>
    <p:extLst>
      <p:ext uri="{BB962C8B-B14F-4D97-AF65-F5344CB8AC3E}">
        <p14:creationId xmlns:p14="http://schemas.microsoft.com/office/powerpoint/2010/main" val="4111381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992D0-7D98-2B0D-07C0-0194833007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D16E48-8AD0-4BDF-4703-B6E11FB73ADC}"/>
              </a:ext>
            </a:extLst>
          </p:cNvPr>
          <p:cNvSpPr>
            <a:spLocks noGrp="1"/>
          </p:cNvSpPr>
          <p:nvPr>
            <p:ph type="title"/>
          </p:nvPr>
        </p:nvSpPr>
        <p:spPr>
          <a:xfrm>
            <a:off x="3558540" y="-1269999"/>
            <a:ext cx="8420100" cy="1889760"/>
          </a:xfrm>
        </p:spPr>
        <p:txBody>
          <a:bodyPr/>
          <a:lstStyle/>
          <a:p>
            <a:r>
              <a:rPr lang="en-IN" dirty="0"/>
              <a:t>Flowchart</a:t>
            </a:r>
            <a:endParaRPr lang="en-US" dirty="0"/>
          </a:p>
        </p:txBody>
      </p:sp>
      <p:sp>
        <p:nvSpPr>
          <p:cNvPr id="35" name="Content Placeholder 34">
            <a:extLst>
              <a:ext uri="{FF2B5EF4-FFF2-40B4-BE49-F238E27FC236}">
                <a16:creationId xmlns:a16="http://schemas.microsoft.com/office/drawing/2014/main" id="{3E0085A7-7A59-C26E-B310-9B792BAC4F09}"/>
              </a:ext>
            </a:extLst>
          </p:cNvPr>
          <p:cNvSpPr>
            <a:spLocks noGrp="1"/>
          </p:cNvSpPr>
          <p:nvPr>
            <p:ph sz="half" idx="13"/>
          </p:nvPr>
        </p:nvSpPr>
        <p:spPr>
          <a:xfrm>
            <a:off x="2693196" y="1000127"/>
            <a:ext cx="4958080" cy="6233793"/>
          </a:xfrm>
        </p:spPr>
        <p:txBody>
          <a:bodyPr>
            <a:normAutofit lnSpcReduction="10000"/>
          </a:bodyPr>
          <a:lstStyle/>
          <a:p>
            <a:r>
              <a:rPr lang="en-IN" dirty="0"/>
              <a:t>Start</a:t>
            </a:r>
            <a:br>
              <a:rPr lang="en-IN" dirty="0"/>
            </a:br>
            <a:r>
              <a:rPr lang="en-IN" dirty="0"/>
              <a:t>│</a:t>
            </a:r>
            <a:br>
              <a:rPr lang="en-IN" dirty="0"/>
            </a:br>
            <a:r>
              <a:rPr lang="en-IN" dirty="0"/>
              <a:t>▼</a:t>
            </a:r>
            <a:br>
              <a:rPr lang="en-IN" dirty="0"/>
            </a:br>
            <a:r>
              <a:rPr lang="en-IN" dirty="0"/>
              <a:t>User Registers / Logs In</a:t>
            </a:r>
            <a:br>
              <a:rPr lang="en-IN" dirty="0"/>
            </a:br>
            <a:r>
              <a:rPr lang="en-IN" dirty="0"/>
              <a:t>│</a:t>
            </a:r>
            <a:br>
              <a:rPr lang="en-IN" dirty="0"/>
            </a:br>
            <a:r>
              <a:rPr lang="en-IN" dirty="0"/>
              <a:t>▼</a:t>
            </a:r>
            <a:br>
              <a:rPr lang="en-IN" dirty="0"/>
            </a:br>
            <a:r>
              <a:rPr lang="en-IN" dirty="0"/>
              <a:t>Complete Profile</a:t>
            </a:r>
            <a:br>
              <a:rPr lang="en-IN" dirty="0"/>
            </a:br>
            <a:r>
              <a:rPr lang="en-IN" dirty="0"/>
              <a:t>│</a:t>
            </a:r>
            <a:br>
              <a:rPr lang="en-IN" dirty="0"/>
            </a:br>
            <a:r>
              <a:rPr lang="en-IN" dirty="0"/>
              <a:t>▼</a:t>
            </a:r>
            <a:br>
              <a:rPr lang="en-IN" dirty="0"/>
            </a:br>
            <a:r>
              <a:rPr lang="en-IN" dirty="0"/>
              <a:t>Take Skill Assessment Quiz</a:t>
            </a:r>
            <a:br>
              <a:rPr lang="en-IN" dirty="0"/>
            </a:br>
            <a:r>
              <a:rPr lang="en-IN" dirty="0"/>
              <a:t>│</a:t>
            </a:r>
            <a:br>
              <a:rPr lang="en-IN" dirty="0"/>
            </a:br>
            <a:r>
              <a:rPr lang="en-IN" dirty="0"/>
              <a:t>▼</a:t>
            </a:r>
            <a:br>
              <a:rPr lang="en-IN" dirty="0"/>
            </a:br>
            <a:r>
              <a:rPr lang="en-IN" dirty="0"/>
              <a:t>System </a:t>
            </a:r>
            <a:r>
              <a:rPr lang="en-IN" dirty="0" err="1"/>
              <a:t>Analyzes</a:t>
            </a:r>
            <a:r>
              <a:rPr lang="en-IN" dirty="0"/>
              <a:t> Responses</a:t>
            </a:r>
            <a:br>
              <a:rPr lang="en-IN" dirty="0"/>
            </a:br>
            <a:r>
              <a:rPr lang="en-IN" dirty="0"/>
              <a:t>│</a:t>
            </a:r>
            <a:br>
              <a:rPr lang="en-IN" dirty="0"/>
            </a:br>
            <a:r>
              <a:rPr lang="en-IN" dirty="0"/>
              <a:t>▼</a:t>
            </a:r>
            <a:br>
              <a:rPr lang="en-IN" dirty="0"/>
            </a:br>
            <a:r>
              <a:rPr lang="en-IN" dirty="0"/>
              <a:t>AI Generates Career Recommendations</a:t>
            </a:r>
          </a:p>
          <a:p>
            <a:r>
              <a:rPr lang="en-IN" dirty="0"/>
              <a:t>│</a:t>
            </a:r>
            <a:br>
              <a:rPr lang="en-IN" dirty="0"/>
            </a:br>
            <a:r>
              <a:rPr lang="en-IN" dirty="0"/>
              <a:t>▼</a:t>
            </a:r>
            <a:br>
              <a:rPr lang="en-IN" dirty="0"/>
            </a:br>
            <a:r>
              <a:rPr lang="en-IN" dirty="0"/>
              <a:t>View Recommended Careers</a:t>
            </a:r>
          </a:p>
          <a:p>
            <a:r>
              <a:rPr lang="en-IN" dirty="0"/>
              <a:t>│</a:t>
            </a:r>
            <a:br>
              <a:rPr lang="en-IN" dirty="0"/>
            </a:br>
            <a:r>
              <a:rPr lang="en-IN" dirty="0"/>
              <a:t>▼</a:t>
            </a:r>
            <a:br>
              <a:rPr lang="en-IN" dirty="0"/>
            </a:br>
            <a:r>
              <a:rPr lang="en-IN" dirty="0"/>
              <a:t>Explore Courses &amp; Learning Roadmap</a:t>
            </a:r>
            <a:endParaRPr lang="en-US" b="1" dirty="0"/>
          </a:p>
        </p:txBody>
      </p:sp>
      <p:sp>
        <p:nvSpPr>
          <p:cNvPr id="5" name="Content Placeholder 34">
            <a:extLst>
              <a:ext uri="{FF2B5EF4-FFF2-40B4-BE49-F238E27FC236}">
                <a16:creationId xmlns:a16="http://schemas.microsoft.com/office/drawing/2014/main" id="{0C5341B1-31C2-A088-737F-22E343DD36DC}"/>
              </a:ext>
            </a:extLst>
          </p:cNvPr>
          <p:cNvSpPr txBox="1">
            <a:spLocks/>
          </p:cNvSpPr>
          <p:nvPr/>
        </p:nvSpPr>
        <p:spPr>
          <a:xfrm>
            <a:off x="7651276" y="1162687"/>
            <a:ext cx="4958080" cy="6233793"/>
          </a:xfrm>
          <a:prstGeom prst="rect">
            <a:avLst/>
          </a:prstGeom>
        </p:spPr>
        <p:txBody>
          <a:bodyPr vert="horz" lIns="91440" tIns="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0"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a:t>
            </a:r>
            <a:br>
              <a:rPr lang="en-IN" dirty="0"/>
            </a:br>
            <a:r>
              <a:rPr lang="en-IN" dirty="0"/>
              <a:t>▼</a:t>
            </a:r>
            <a:br>
              <a:rPr lang="en-IN" dirty="0"/>
            </a:br>
            <a:r>
              <a:rPr lang="en-IN" dirty="0"/>
              <a:t>Save Preferred Career</a:t>
            </a:r>
            <a:br>
              <a:rPr lang="en-IN" dirty="0"/>
            </a:br>
            <a:r>
              <a:rPr lang="en-IN" dirty="0"/>
              <a:t>│</a:t>
            </a:r>
            <a:br>
              <a:rPr lang="en-IN" dirty="0"/>
            </a:br>
            <a:r>
              <a:rPr lang="en-IN" dirty="0"/>
              <a:t>▼</a:t>
            </a:r>
            <a:br>
              <a:rPr lang="en-IN" dirty="0"/>
            </a:br>
            <a:r>
              <a:rPr lang="en-IN" dirty="0"/>
              <a:t>Track Progress on Dashboard</a:t>
            </a:r>
            <a:br>
              <a:rPr lang="en-IN" dirty="0"/>
            </a:br>
            <a:r>
              <a:rPr lang="en-IN" dirty="0"/>
              <a:t>│</a:t>
            </a:r>
            <a:br>
              <a:rPr lang="en-IN" dirty="0"/>
            </a:br>
            <a:r>
              <a:rPr lang="en-IN" dirty="0"/>
              <a:t>▼</a:t>
            </a:r>
            <a:br>
              <a:rPr lang="en-IN" dirty="0"/>
            </a:br>
            <a:r>
              <a:rPr lang="en-IN" dirty="0"/>
              <a:t>End</a:t>
            </a:r>
            <a:endParaRPr lang="en-US" b="1" dirty="0"/>
          </a:p>
        </p:txBody>
      </p:sp>
    </p:spTree>
    <p:extLst>
      <p:ext uri="{BB962C8B-B14F-4D97-AF65-F5344CB8AC3E}">
        <p14:creationId xmlns:p14="http://schemas.microsoft.com/office/powerpoint/2010/main" val="1034795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8FC28-E0BD-4387-B8BE-9965D1A57FF1}"/>
              </a:ext>
            </a:extLst>
          </p:cNvPr>
          <p:cNvSpPr>
            <a:spLocks noGrp="1"/>
          </p:cNvSpPr>
          <p:nvPr>
            <p:ph type="title"/>
          </p:nvPr>
        </p:nvSpPr>
        <p:spPr>
          <a:xfrm>
            <a:off x="5246255" y="-328612"/>
            <a:ext cx="5884027" cy="1204912"/>
          </a:xfrm>
        </p:spPr>
        <p:txBody>
          <a:bodyPr/>
          <a:lstStyle/>
          <a:p>
            <a:r>
              <a:rPr lang="en-IN" dirty="0"/>
              <a:t>Agile Scrum Project Management Process</a:t>
            </a:r>
            <a:endParaRPr lang="en-US" dirty="0"/>
          </a:p>
        </p:txBody>
      </p:sp>
      <p:sp>
        <p:nvSpPr>
          <p:cNvPr id="3" name="Text Placeholder 2">
            <a:extLst>
              <a:ext uri="{FF2B5EF4-FFF2-40B4-BE49-F238E27FC236}">
                <a16:creationId xmlns:a16="http://schemas.microsoft.com/office/drawing/2014/main" id="{FED19BCA-B61F-4EA6-A1FB-CCA3BD8506FB}"/>
              </a:ext>
            </a:extLst>
          </p:cNvPr>
          <p:cNvSpPr>
            <a:spLocks noGrp="1"/>
          </p:cNvSpPr>
          <p:nvPr>
            <p:ph sz="half" idx="14"/>
          </p:nvPr>
        </p:nvSpPr>
        <p:spPr>
          <a:xfrm>
            <a:off x="5246256" y="1062671"/>
            <a:ext cx="6114646" cy="5476240"/>
          </a:xfrm>
        </p:spPr>
        <p:txBody>
          <a:bodyPr>
            <a:noAutofit/>
          </a:bodyPr>
          <a:lstStyle/>
          <a:p>
            <a:r>
              <a:rPr lang="en-IN" b="1" dirty="0"/>
              <a:t>1. Product Backlog</a:t>
            </a:r>
          </a:p>
          <a:p>
            <a:r>
              <a:rPr lang="en-IN" dirty="0"/>
              <a:t>Identified and documented all product requirements. </a:t>
            </a:r>
          </a:p>
          <a:p>
            <a:r>
              <a:rPr lang="en-IN" dirty="0"/>
              <a:t>Prioritized features based on business value and user needs. </a:t>
            </a:r>
          </a:p>
          <a:p>
            <a:r>
              <a:rPr lang="en-IN" dirty="0"/>
              <a:t>Organized requirements into Epics, User Stories, and Tasks. </a:t>
            </a:r>
          </a:p>
          <a:p>
            <a:r>
              <a:rPr lang="en-IN" dirty="0"/>
              <a:t>Continuously updated the backlog based on stakeholder feedback. </a:t>
            </a:r>
          </a:p>
          <a:p>
            <a:endParaRPr lang="en-IN" b="1" dirty="0"/>
          </a:p>
          <a:p>
            <a:r>
              <a:rPr lang="en-IN" b="1" dirty="0"/>
              <a:t>2. Sprint Planning</a:t>
            </a:r>
          </a:p>
          <a:p>
            <a:r>
              <a:rPr lang="en-IN" dirty="0"/>
              <a:t>Selected high-priority backlog items for the sprint. </a:t>
            </a:r>
          </a:p>
          <a:p>
            <a:r>
              <a:rPr lang="en-IN" dirty="0"/>
              <a:t>Estimated effort using Story Points. </a:t>
            </a:r>
          </a:p>
          <a:p>
            <a:r>
              <a:rPr lang="en-IN" dirty="0"/>
              <a:t>Assigned tasks and defined sprint goals. </a:t>
            </a:r>
          </a:p>
          <a:p>
            <a:r>
              <a:rPr lang="en-IN" dirty="0"/>
              <a:t>Set acceptance criteria and sprint timelines.</a:t>
            </a:r>
          </a:p>
        </p:txBody>
      </p:sp>
      <p:cxnSp>
        <p:nvCxnSpPr>
          <p:cNvPr id="23" name="Straight Connector 22">
            <a:extLst>
              <a:ext uri="{FF2B5EF4-FFF2-40B4-BE49-F238E27FC236}">
                <a16:creationId xmlns:a16="http://schemas.microsoft.com/office/drawing/2014/main" id="{D87F08D6-2CA7-4A5A-BE34-07113DCA535D}"/>
              </a:ext>
              <a:ext uri="{C183D7F6-B498-43B3-948B-1728B52AA6E4}">
                <adec:decorative xmlns:adec="http://schemas.microsoft.com/office/drawing/2017/decorative" val="1"/>
              </a:ext>
            </a:extLst>
          </p:cNvPr>
          <p:cNvCxnSpPr>
            <a:cxnSpLocks/>
          </p:cNvCxnSpPr>
          <p:nvPr userDrawn="1"/>
        </p:nvCxnSpPr>
        <p:spPr>
          <a:xfrm flipH="1" flipV="1">
            <a:off x="0" y="876300"/>
            <a:ext cx="5246255" cy="17098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2861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79DA-338C-3A89-0408-CE267DAE7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19CE1-8A05-7A7B-28C7-CF33F29D84D5}"/>
              </a:ext>
            </a:extLst>
          </p:cNvPr>
          <p:cNvSpPr>
            <a:spLocks noGrp="1"/>
          </p:cNvSpPr>
          <p:nvPr>
            <p:ph type="title"/>
          </p:nvPr>
        </p:nvSpPr>
        <p:spPr>
          <a:xfrm>
            <a:off x="5246255" y="-344198"/>
            <a:ext cx="5884027" cy="1204912"/>
          </a:xfrm>
        </p:spPr>
        <p:txBody>
          <a:bodyPr/>
          <a:lstStyle/>
          <a:p>
            <a:r>
              <a:rPr lang="en-IN" dirty="0"/>
              <a:t>Agile Scrum Project Management Process</a:t>
            </a:r>
            <a:endParaRPr lang="en-US" dirty="0"/>
          </a:p>
        </p:txBody>
      </p:sp>
      <p:sp>
        <p:nvSpPr>
          <p:cNvPr id="3" name="Text Placeholder 2">
            <a:extLst>
              <a:ext uri="{FF2B5EF4-FFF2-40B4-BE49-F238E27FC236}">
                <a16:creationId xmlns:a16="http://schemas.microsoft.com/office/drawing/2014/main" id="{1AB30798-FA54-E50A-4547-0912EF9EB30D}"/>
              </a:ext>
            </a:extLst>
          </p:cNvPr>
          <p:cNvSpPr>
            <a:spLocks noGrp="1"/>
          </p:cNvSpPr>
          <p:nvPr>
            <p:ph sz="half" idx="14"/>
          </p:nvPr>
        </p:nvSpPr>
        <p:spPr>
          <a:xfrm>
            <a:off x="5246255" y="971694"/>
            <a:ext cx="6114646" cy="5476240"/>
          </a:xfrm>
        </p:spPr>
        <p:txBody>
          <a:bodyPr>
            <a:noAutofit/>
          </a:bodyPr>
          <a:lstStyle/>
          <a:p>
            <a:r>
              <a:rPr lang="en-IN" b="1" dirty="0"/>
              <a:t>3. Scrum Board</a:t>
            </a:r>
          </a:p>
          <a:p>
            <a:r>
              <a:rPr lang="en-IN" dirty="0"/>
              <a:t>Tracked task progress through different workflow stages. </a:t>
            </a:r>
          </a:p>
          <a:p>
            <a:r>
              <a:rPr lang="en-IN" dirty="0"/>
              <a:t>Managed work using To Do, In Progress, Testing, and Done. </a:t>
            </a:r>
          </a:p>
          <a:p>
            <a:r>
              <a:rPr lang="en-IN" dirty="0"/>
              <a:t>Monitored sprint progress and team collaboration. </a:t>
            </a:r>
          </a:p>
          <a:p>
            <a:r>
              <a:rPr lang="en-IN" dirty="0"/>
              <a:t>Ensured transparency and timely task completion. </a:t>
            </a:r>
          </a:p>
          <a:p>
            <a:endParaRPr lang="en-IN" b="1" dirty="0"/>
          </a:p>
          <a:p>
            <a:r>
              <a:rPr lang="en-IN" b="1" dirty="0"/>
              <a:t>4. Sprint Review &amp; Retrospective</a:t>
            </a:r>
          </a:p>
          <a:p>
            <a:r>
              <a:rPr lang="en-IN" dirty="0"/>
              <a:t>Demonstrated completed features at the end of each sprint. </a:t>
            </a:r>
          </a:p>
          <a:p>
            <a:r>
              <a:rPr lang="en-IN" dirty="0"/>
              <a:t>Gathered stakeholder feedback for product improvements. </a:t>
            </a:r>
          </a:p>
          <a:p>
            <a:r>
              <a:rPr lang="en-IN" dirty="0"/>
              <a:t>Identified challenges and areas for process improvement. </a:t>
            </a:r>
          </a:p>
          <a:p>
            <a:r>
              <a:rPr lang="en-IN" dirty="0"/>
              <a:t>Updated the backlog and planned the next sprint.</a:t>
            </a:r>
          </a:p>
        </p:txBody>
      </p:sp>
      <p:cxnSp>
        <p:nvCxnSpPr>
          <p:cNvPr id="23" name="Straight Connector 22">
            <a:extLst>
              <a:ext uri="{FF2B5EF4-FFF2-40B4-BE49-F238E27FC236}">
                <a16:creationId xmlns:a16="http://schemas.microsoft.com/office/drawing/2014/main" id="{482F6F0E-3ADF-5893-8ACA-1AAA83EEAD02}"/>
              </a:ext>
              <a:ext uri="{C183D7F6-B498-43B3-948B-1728B52AA6E4}">
                <adec:decorative xmlns:adec="http://schemas.microsoft.com/office/drawing/2017/decorative" val="1"/>
              </a:ext>
            </a:extLst>
          </p:cNvPr>
          <p:cNvCxnSpPr>
            <a:cxnSpLocks/>
          </p:cNvCxnSpPr>
          <p:nvPr userDrawn="1"/>
        </p:nvCxnSpPr>
        <p:spPr>
          <a:xfrm flipH="1" flipV="1">
            <a:off x="0" y="876300"/>
            <a:ext cx="5246255" cy="17098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795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D0299-3011-6901-E7CA-988AFF0BEA62}"/>
              </a:ext>
            </a:extLst>
          </p:cNvPr>
          <p:cNvSpPr>
            <a:spLocks noGrp="1"/>
          </p:cNvSpPr>
          <p:nvPr>
            <p:ph type="title"/>
          </p:nvPr>
        </p:nvSpPr>
        <p:spPr>
          <a:xfrm>
            <a:off x="838200" y="-345439"/>
            <a:ext cx="10515600" cy="1036320"/>
          </a:xfrm>
        </p:spPr>
        <p:txBody>
          <a:bodyPr/>
          <a:lstStyle/>
          <a:p>
            <a:r>
              <a:rPr lang="en-IN" dirty="0"/>
              <a:t>OUTPUT(SCREEN SHOTS)</a:t>
            </a:r>
          </a:p>
        </p:txBody>
      </p:sp>
      <p:sp>
        <p:nvSpPr>
          <p:cNvPr id="3" name="Table Placeholder 2">
            <a:extLst>
              <a:ext uri="{FF2B5EF4-FFF2-40B4-BE49-F238E27FC236}">
                <a16:creationId xmlns:a16="http://schemas.microsoft.com/office/drawing/2014/main" id="{E174AE66-44E8-812B-7BAE-587DA21E73C5}"/>
              </a:ext>
            </a:extLst>
          </p:cNvPr>
          <p:cNvSpPr>
            <a:spLocks noGrp="1"/>
          </p:cNvSpPr>
          <p:nvPr>
            <p:ph type="tbl" sz="quarter" idx="14"/>
          </p:nvPr>
        </p:nvSpPr>
        <p:spPr/>
      </p:sp>
      <p:sp>
        <p:nvSpPr>
          <p:cNvPr id="4" name="Slide Number Placeholder 3">
            <a:extLst>
              <a:ext uri="{FF2B5EF4-FFF2-40B4-BE49-F238E27FC236}">
                <a16:creationId xmlns:a16="http://schemas.microsoft.com/office/drawing/2014/main" id="{26F94C44-5610-6A59-AA49-7883EFC34B7F}"/>
              </a:ext>
            </a:extLst>
          </p:cNvPr>
          <p:cNvSpPr>
            <a:spLocks noGrp="1"/>
          </p:cNvSpPr>
          <p:nvPr>
            <p:ph type="sldNum" sz="quarter" idx="12"/>
          </p:nvPr>
        </p:nvSpPr>
        <p:spPr/>
        <p:txBody>
          <a:bodyPr/>
          <a:lstStyle/>
          <a:p>
            <a:fld id="{A49DFD55-3C28-40EF-9E31-A92D2E4017FF}" type="slidenum">
              <a:rPr lang="en-US" smtClean="0"/>
              <a:pPr/>
              <a:t>10</a:t>
            </a:fld>
            <a:endParaRPr lang="en-US" dirty="0"/>
          </a:p>
        </p:txBody>
      </p:sp>
      <p:pic>
        <p:nvPicPr>
          <p:cNvPr id="6" name="Picture 5">
            <a:extLst>
              <a:ext uri="{FF2B5EF4-FFF2-40B4-BE49-F238E27FC236}">
                <a16:creationId xmlns:a16="http://schemas.microsoft.com/office/drawing/2014/main" id="{4E9B23B6-D904-3E31-43CE-BDBEDAF140D4}"/>
              </a:ext>
            </a:extLst>
          </p:cNvPr>
          <p:cNvPicPr>
            <a:picLocks noChangeAspect="1"/>
          </p:cNvPicPr>
          <p:nvPr/>
        </p:nvPicPr>
        <p:blipFill>
          <a:blip r:embed="rId2"/>
          <a:stretch>
            <a:fillRect/>
          </a:stretch>
        </p:blipFill>
        <p:spPr>
          <a:xfrm>
            <a:off x="487680" y="1422401"/>
            <a:ext cx="11135360" cy="5299074"/>
          </a:xfrm>
          <a:prstGeom prst="rect">
            <a:avLst/>
          </a:prstGeom>
        </p:spPr>
      </p:pic>
      <p:sp>
        <p:nvSpPr>
          <p:cNvPr id="7" name="Content Placeholder 35">
            <a:extLst>
              <a:ext uri="{FF2B5EF4-FFF2-40B4-BE49-F238E27FC236}">
                <a16:creationId xmlns:a16="http://schemas.microsoft.com/office/drawing/2014/main" id="{1E71A179-B647-B377-15E8-82706A081FBD}"/>
              </a:ext>
            </a:extLst>
          </p:cNvPr>
          <p:cNvSpPr txBox="1">
            <a:spLocks/>
          </p:cNvSpPr>
          <p:nvPr/>
        </p:nvSpPr>
        <p:spPr>
          <a:xfrm>
            <a:off x="487680" y="897205"/>
            <a:ext cx="3738880" cy="55690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latin typeface="Times New Roman" panose="02020603050405020304" pitchFamily="18" charset="0"/>
                <a:cs typeface="Times New Roman" panose="02020603050405020304" pitchFamily="18" charset="0"/>
              </a:rPr>
              <a:t>1. Project Creation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114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F4EE4-9574-E137-9BD7-892D5751E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E3AC4A-2F97-4E94-452E-0EB49D6A1B61}"/>
              </a:ext>
            </a:extLst>
          </p:cNvPr>
          <p:cNvSpPr>
            <a:spLocks noGrp="1"/>
          </p:cNvSpPr>
          <p:nvPr>
            <p:ph type="title"/>
          </p:nvPr>
        </p:nvSpPr>
        <p:spPr>
          <a:xfrm>
            <a:off x="838200" y="-345439"/>
            <a:ext cx="10515600" cy="1036320"/>
          </a:xfrm>
        </p:spPr>
        <p:txBody>
          <a:bodyPr/>
          <a:lstStyle/>
          <a:p>
            <a:r>
              <a:rPr lang="en-IN" dirty="0"/>
              <a:t>OUTPUT(SCREEN SHOTS)</a:t>
            </a:r>
          </a:p>
        </p:txBody>
      </p:sp>
      <p:sp>
        <p:nvSpPr>
          <p:cNvPr id="3" name="Table Placeholder 2">
            <a:extLst>
              <a:ext uri="{FF2B5EF4-FFF2-40B4-BE49-F238E27FC236}">
                <a16:creationId xmlns:a16="http://schemas.microsoft.com/office/drawing/2014/main" id="{FCBB7B46-BFDC-347E-F035-B9040C08113F}"/>
              </a:ext>
            </a:extLst>
          </p:cNvPr>
          <p:cNvSpPr>
            <a:spLocks noGrp="1"/>
          </p:cNvSpPr>
          <p:nvPr>
            <p:ph type="tbl" sz="quarter" idx="14"/>
          </p:nvPr>
        </p:nvSpPr>
        <p:spPr/>
      </p:sp>
      <p:sp>
        <p:nvSpPr>
          <p:cNvPr id="4" name="Slide Number Placeholder 3">
            <a:extLst>
              <a:ext uri="{FF2B5EF4-FFF2-40B4-BE49-F238E27FC236}">
                <a16:creationId xmlns:a16="http://schemas.microsoft.com/office/drawing/2014/main" id="{DD870876-6301-D432-8927-F222D7270AB9}"/>
              </a:ext>
            </a:extLst>
          </p:cNvPr>
          <p:cNvSpPr>
            <a:spLocks noGrp="1"/>
          </p:cNvSpPr>
          <p:nvPr>
            <p:ph type="sldNum" sz="quarter" idx="12"/>
          </p:nvPr>
        </p:nvSpPr>
        <p:spPr/>
        <p:txBody>
          <a:bodyPr/>
          <a:lstStyle/>
          <a:p>
            <a:fld id="{A49DFD55-3C28-40EF-9E31-A92D2E4017FF}" type="slidenum">
              <a:rPr lang="en-US" smtClean="0"/>
              <a:pPr/>
              <a:t>11</a:t>
            </a:fld>
            <a:endParaRPr lang="en-US" dirty="0"/>
          </a:p>
        </p:txBody>
      </p:sp>
      <p:sp>
        <p:nvSpPr>
          <p:cNvPr id="7" name="Content Placeholder 35">
            <a:extLst>
              <a:ext uri="{FF2B5EF4-FFF2-40B4-BE49-F238E27FC236}">
                <a16:creationId xmlns:a16="http://schemas.microsoft.com/office/drawing/2014/main" id="{4DA1BB7B-AF0B-2125-F701-603898230740}"/>
              </a:ext>
            </a:extLst>
          </p:cNvPr>
          <p:cNvSpPr txBox="1">
            <a:spLocks/>
          </p:cNvSpPr>
          <p:nvPr/>
        </p:nvSpPr>
        <p:spPr>
          <a:xfrm>
            <a:off x="487680" y="897205"/>
            <a:ext cx="3738880" cy="55690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latin typeface="Times New Roman" panose="02020603050405020304" pitchFamily="18" charset="0"/>
                <a:cs typeface="Times New Roman" panose="02020603050405020304" pitchFamily="18" charset="0"/>
              </a:rPr>
              <a:t>2.1 Product Backlog</a:t>
            </a:r>
            <a:endParaRPr lang="en-US"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BB61C8C-BC82-AB89-4F2A-CB51EAAAE350}"/>
              </a:ext>
            </a:extLst>
          </p:cNvPr>
          <p:cNvPicPr>
            <a:picLocks noChangeAspect="1"/>
          </p:cNvPicPr>
          <p:nvPr/>
        </p:nvPicPr>
        <p:blipFill>
          <a:blip r:embed="rId2"/>
          <a:stretch>
            <a:fillRect/>
          </a:stretch>
        </p:blipFill>
        <p:spPr>
          <a:xfrm>
            <a:off x="416560" y="1454106"/>
            <a:ext cx="11216640" cy="5119414"/>
          </a:xfrm>
          <a:prstGeom prst="rect">
            <a:avLst/>
          </a:prstGeom>
        </p:spPr>
      </p:pic>
    </p:spTree>
    <p:extLst>
      <p:ext uri="{BB962C8B-B14F-4D97-AF65-F5344CB8AC3E}">
        <p14:creationId xmlns:p14="http://schemas.microsoft.com/office/powerpoint/2010/main" val="2913401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60B42-85E7-1947-7FAB-3F6B1AF372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894BE3-39D3-0260-EDFD-1C15C1B27C30}"/>
              </a:ext>
            </a:extLst>
          </p:cNvPr>
          <p:cNvSpPr>
            <a:spLocks noGrp="1"/>
          </p:cNvSpPr>
          <p:nvPr>
            <p:ph type="title"/>
          </p:nvPr>
        </p:nvSpPr>
        <p:spPr>
          <a:xfrm>
            <a:off x="838200" y="-345439"/>
            <a:ext cx="10515600" cy="1036320"/>
          </a:xfrm>
        </p:spPr>
        <p:txBody>
          <a:bodyPr/>
          <a:lstStyle/>
          <a:p>
            <a:r>
              <a:rPr lang="en-IN" dirty="0"/>
              <a:t>OUTPUT(SCREEN SHOTS)</a:t>
            </a:r>
          </a:p>
        </p:txBody>
      </p:sp>
      <p:sp>
        <p:nvSpPr>
          <p:cNvPr id="3" name="Table Placeholder 2">
            <a:extLst>
              <a:ext uri="{FF2B5EF4-FFF2-40B4-BE49-F238E27FC236}">
                <a16:creationId xmlns:a16="http://schemas.microsoft.com/office/drawing/2014/main" id="{5BC69A5F-B4F1-7666-4401-6692EC0D9CB5}"/>
              </a:ext>
            </a:extLst>
          </p:cNvPr>
          <p:cNvSpPr>
            <a:spLocks noGrp="1"/>
          </p:cNvSpPr>
          <p:nvPr>
            <p:ph type="tbl" sz="quarter" idx="14"/>
          </p:nvPr>
        </p:nvSpPr>
        <p:spPr/>
      </p:sp>
      <p:sp>
        <p:nvSpPr>
          <p:cNvPr id="4" name="Slide Number Placeholder 3">
            <a:extLst>
              <a:ext uri="{FF2B5EF4-FFF2-40B4-BE49-F238E27FC236}">
                <a16:creationId xmlns:a16="http://schemas.microsoft.com/office/drawing/2014/main" id="{F3CCE2FC-5C36-D610-EC05-C46525E66B3C}"/>
              </a:ext>
            </a:extLst>
          </p:cNvPr>
          <p:cNvSpPr>
            <a:spLocks noGrp="1"/>
          </p:cNvSpPr>
          <p:nvPr>
            <p:ph type="sldNum" sz="quarter" idx="12"/>
          </p:nvPr>
        </p:nvSpPr>
        <p:spPr/>
        <p:txBody>
          <a:bodyPr/>
          <a:lstStyle/>
          <a:p>
            <a:fld id="{A49DFD55-3C28-40EF-9E31-A92D2E4017FF}" type="slidenum">
              <a:rPr lang="en-US" smtClean="0"/>
              <a:pPr/>
              <a:t>12</a:t>
            </a:fld>
            <a:endParaRPr lang="en-US" dirty="0"/>
          </a:p>
        </p:txBody>
      </p:sp>
      <p:sp>
        <p:nvSpPr>
          <p:cNvPr id="7" name="Content Placeholder 35">
            <a:extLst>
              <a:ext uri="{FF2B5EF4-FFF2-40B4-BE49-F238E27FC236}">
                <a16:creationId xmlns:a16="http://schemas.microsoft.com/office/drawing/2014/main" id="{D2DD82BF-37E2-D1E9-A930-B39D00589F5D}"/>
              </a:ext>
            </a:extLst>
          </p:cNvPr>
          <p:cNvSpPr txBox="1">
            <a:spLocks/>
          </p:cNvSpPr>
          <p:nvPr/>
        </p:nvSpPr>
        <p:spPr>
          <a:xfrm>
            <a:off x="487680" y="897205"/>
            <a:ext cx="3738880" cy="55690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latin typeface="Times New Roman" panose="02020603050405020304" pitchFamily="18" charset="0"/>
                <a:cs typeface="Times New Roman" panose="02020603050405020304" pitchFamily="18" charset="0"/>
              </a:rPr>
              <a:t>2.2 Product Backlog</a:t>
            </a:r>
            <a:endParaRPr lang="en-US"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0B20BDF-7CDA-78A1-CC6C-1A18A931F6DD}"/>
              </a:ext>
            </a:extLst>
          </p:cNvPr>
          <p:cNvPicPr>
            <a:picLocks noChangeAspect="1"/>
          </p:cNvPicPr>
          <p:nvPr/>
        </p:nvPicPr>
        <p:blipFill>
          <a:blip r:embed="rId2"/>
          <a:stretch>
            <a:fillRect/>
          </a:stretch>
        </p:blipFill>
        <p:spPr>
          <a:xfrm>
            <a:off x="487680" y="1542096"/>
            <a:ext cx="10962640" cy="4996815"/>
          </a:xfrm>
          <a:prstGeom prst="rect">
            <a:avLst/>
          </a:prstGeom>
        </p:spPr>
      </p:pic>
    </p:spTree>
    <p:extLst>
      <p:ext uri="{BB962C8B-B14F-4D97-AF65-F5344CB8AC3E}">
        <p14:creationId xmlns:p14="http://schemas.microsoft.com/office/powerpoint/2010/main" val="3695247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F4AB0-0B4B-2D9C-1BD0-52F1BBD8FE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DC0542-575D-E10A-AB0B-EC4AABB6BA30}"/>
              </a:ext>
            </a:extLst>
          </p:cNvPr>
          <p:cNvSpPr>
            <a:spLocks noGrp="1"/>
          </p:cNvSpPr>
          <p:nvPr>
            <p:ph type="title"/>
          </p:nvPr>
        </p:nvSpPr>
        <p:spPr>
          <a:xfrm>
            <a:off x="838200" y="-345439"/>
            <a:ext cx="10515600" cy="1036320"/>
          </a:xfrm>
        </p:spPr>
        <p:txBody>
          <a:bodyPr/>
          <a:lstStyle/>
          <a:p>
            <a:r>
              <a:rPr lang="en-IN" dirty="0"/>
              <a:t>OUTPUT(SCREEN SHOTS)</a:t>
            </a:r>
          </a:p>
        </p:txBody>
      </p:sp>
      <p:sp>
        <p:nvSpPr>
          <p:cNvPr id="3" name="Table Placeholder 2">
            <a:extLst>
              <a:ext uri="{FF2B5EF4-FFF2-40B4-BE49-F238E27FC236}">
                <a16:creationId xmlns:a16="http://schemas.microsoft.com/office/drawing/2014/main" id="{4ABAB658-07A3-0D63-7157-D85FB46592D7}"/>
              </a:ext>
            </a:extLst>
          </p:cNvPr>
          <p:cNvSpPr>
            <a:spLocks noGrp="1"/>
          </p:cNvSpPr>
          <p:nvPr>
            <p:ph type="tbl" sz="quarter" idx="14"/>
          </p:nvPr>
        </p:nvSpPr>
        <p:spPr/>
      </p:sp>
      <p:sp>
        <p:nvSpPr>
          <p:cNvPr id="4" name="Slide Number Placeholder 3">
            <a:extLst>
              <a:ext uri="{FF2B5EF4-FFF2-40B4-BE49-F238E27FC236}">
                <a16:creationId xmlns:a16="http://schemas.microsoft.com/office/drawing/2014/main" id="{8A636FFD-4E90-8B17-3E1A-6E9A49FC6FDD}"/>
              </a:ext>
            </a:extLst>
          </p:cNvPr>
          <p:cNvSpPr>
            <a:spLocks noGrp="1"/>
          </p:cNvSpPr>
          <p:nvPr>
            <p:ph type="sldNum" sz="quarter" idx="12"/>
          </p:nvPr>
        </p:nvSpPr>
        <p:spPr/>
        <p:txBody>
          <a:bodyPr/>
          <a:lstStyle/>
          <a:p>
            <a:fld id="{A49DFD55-3C28-40EF-9E31-A92D2E4017FF}" type="slidenum">
              <a:rPr lang="en-US" smtClean="0"/>
              <a:pPr/>
              <a:t>13</a:t>
            </a:fld>
            <a:endParaRPr lang="en-US" dirty="0"/>
          </a:p>
        </p:txBody>
      </p:sp>
      <p:sp>
        <p:nvSpPr>
          <p:cNvPr id="7" name="Content Placeholder 35">
            <a:extLst>
              <a:ext uri="{FF2B5EF4-FFF2-40B4-BE49-F238E27FC236}">
                <a16:creationId xmlns:a16="http://schemas.microsoft.com/office/drawing/2014/main" id="{C3607DFA-FCF8-EB3D-2DE1-0F10F0258A32}"/>
              </a:ext>
            </a:extLst>
          </p:cNvPr>
          <p:cNvSpPr txBox="1">
            <a:spLocks/>
          </p:cNvSpPr>
          <p:nvPr/>
        </p:nvSpPr>
        <p:spPr>
          <a:xfrm>
            <a:off x="487680" y="897205"/>
            <a:ext cx="3738880" cy="55690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latin typeface="Times New Roman" panose="02020603050405020304" pitchFamily="18" charset="0"/>
                <a:cs typeface="Times New Roman" panose="02020603050405020304" pitchFamily="18" charset="0"/>
              </a:rPr>
              <a:t>2.3 Product Backlog</a:t>
            </a: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13D4851-7AC3-3844-ABEC-35E01BDDCB25}"/>
              </a:ext>
            </a:extLst>
          </p:cNvPr>
          <p:cNvPicPr>
            <a:picLocks noChangeAspect="1"/>
          </p:cNvPicPr>
          <p:nvPr/>
        </p:nvPicPr>
        <p:blipFill>
          <a:blip r:embed="rId2"/>
          <a:stretch>
            <a:fillRect/>
          </a:stretch>
        </p:blipFill>
        <p:spPr>
          <a:xfrm>
            <a:off x="560822" y="1581466"/>
            <a:ext cx="10800080" cy="4957445"/>
          </a:xfrm>
          <a:prstGeom prst="rect">
            <a:avLst/>
          </a:prstGeom>
        </p:spPr>
      </p:pic>
    </p:spTree>
    <p:extLst>
      <p:ext uri="{BB962C8B-B14F-4D97-AF65-F5344CB8AC3E}">
        <p14:creationId xmlns:p14="http://schemas.microsoft.com/office/powerpoint/2010/main" val="3689480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A3489-8532-3B4C-C16B-510300900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668027-9918-E14D-25FA-AC9A1AC07863}"/>
              </a:ext>
            </a:extLst>
          </p:cNvPr>
          <p:cNvSpPr>
            <a:spLocks noGrp="1"/>
          </p:cNvSpPr>
          <p:nvPr>
            <p:ph type="title"/>
          </p:nvPr>
        </p:nvSpPr>
        <p:spPr>
          <a:xfrm>
            <a:off x="838200" y="-345439"/>
            <a:ext cx="10515600" cy="1036320"/>
          </a:xfrm>
        </p:spPr>
        <p:txBody>
          <a:bodyPr/>
          <a:lstStyle/>
          <a:p>
            <a:r>
              <a:rPr lang="en-IN" dirty="0"/>
              <a:t>OUTPUT(SCREEN SHOTS)</a:t>
            </a:r>
          </a:p>
        </p:txBody>
      </p:sp>
      <p:sp>
        <p:nvSpPr>
          <p:cNvPr id="3" name="Table Placeholder 2">
            <a:extLst>
              <a:ext uri="{FF2B5EF4-FFF2-40B4-BE49-F238E27FC236}">
                <a16:creationId xmlns:a16="http://schemas.microsoft.com/office/drawing/2014/main" id="{0CFCC90D-4638-E7C0-0B51-74D2EE01BFDD}"/>
              </a:ext>
            </a:extLst>
          </p:cNvPr>
          <p:cNvSpPr>
            <a:spLocks noGrp="1"/>
          </p:cNvSpPr>
          <p:nvPr>
            <p:ph type="tbl" sz="quarter" idx="14"/>
          </p:nvPr>
        </p:nvSpPr>
        <p:spPr/>
      </p:sp>
      <p:sp>
        <p:nvSpPr>
          <p:cNvPr id="4" name="Slide Number Placeholder 3">
            <a:extLst>
              <a:ext uri="{FF2B5EF4-FFF2-40B4-BE49-F238E27FC236}">
                <a16:creationId xmlns:a16="http://schemas.microsoft.com/office/drawing/2014/main" id="{87F66F36-CB57-51EF-0B1B-31C5CA2F218A}"/>
              </a:ext>
            </a:extLst>
          </p:cNvPr>
          <p:cNvSpPr>
            <a:spLocks noGrp="1"/>
          </p:cNvSpPr>
          <p:nvPr>
            <p:ph type="sldNum" sz="quarter" idx="12"/>
          </p:nvPr>
        </p:nvSpPr>
        <p:spPr/>
        <p:txBody>
          <a:bodyPr/>
          <a:lstStyle/>
          <a:p>
            <a:fld id="{A49DFD55-3C28-40EF-9E31-A92D2E4017FF}" type="slidenum">
              <a:rPr lang="en-US" smtClean="0"/>
              <a:pPr/>
              <a:t>14</a:t>
            </a:fld>
            <a:endParaRPr lang="en-US" dirty="0"/>
          </a:p>
        </p:txBody>
      </p:sp>
      <p:sp>
        <p:nvSpPr>
          <p:cNvPr id="7" name="Content Placeholder 35">
            <a:extLst>
              <a:ext uri="{FF2B5EF4-FFF2-40B4-BE49-F238E27FC236}">
                <a16:creationId xmlns:a16="http://schemas.microsoft.com/office/drawing/2014/main" id="{6B4963C2-E7C9-63B7-80E7-15630C8C768B}"/>
              </a:ext>
            </a:extLst>
          </p:cNvPr>
          <p:cNvSpPr txBox="1">
            <a:spLocks/>
          </p:cNvSpPr>
          <p:nvPr/>
        </p:nvSpPr>
        <p:spPr>
          <a:xfrm>
            <a:off x="487680" y="897205"/>
            <a:ext cx="3738880" cy="55690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latin typeface="Times New Roman" panose="02020603050405020304" pitchFamily="18" charset="0"/>
                <a:cs typeface="Times New Roman" panose="02020603050405020304" pitchFamily="18" charset="0"/>
              </a:rPr>
              <a:t>2.4 Product Backlog</a:t>
            </a:r>
            <a:endParaRPr lang="en-US"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5ED3060-0098-4C60-E71E-422FDE870CFE}"/>
              </a:ext>
            </a:extLst>
          </p:cNvPr>
          <p:cNvPicPr>
            <a:picLocks noChangeAspect="1"/>
          </p:cNvPicPr>
          <p:nvPr/>
        </p:nvPicPr>
        <p:blipFill>
          <a:blip r:embed="rId2"/>
          <a:stretch>
            <a:fillRect/>
          </a:stretch>
        </p:blipFill>
        <p:spPr>
          <a:xfrm>
            <a:off x="487680" y="1581784"/>
            <a:ext cx="10909300" cy="4774565"/>
          </a:xfrm>
          <a:prstGeom prst="rect">
            <a:avLst/>
          </a:prstGeom>
        </p:spPr>
      </p:pic>
    </p:spTree>
    <p:extLst>
      <p:ext uri="{BB962C8B-B14F-4D97-AF65-F5344CB8AC3E}">
        <p14:creationId xmlns:p14="http://schemas.microsoft.com/office/powerpoint/2010/main" val="768952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BE19C-28F3-B9D2-78E4-2A19A06BAF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51100-6BED-1294-3640-1CF3A28CB411}"/>
              </a:ext>
            </a:extLst>
          </p:cNvPr>
          <p:cNvSpPr>
            <a:spLocks noGrp="1"/>
          </p:cNvSpPr>
          <p:nvPr>
            <p:ph type="title"/>
          </p:nvPr>
        </p:nvSpPr>
        <p:spPr>
          <a:xfrm>
            <a:off x="838200" y="-345439"/>
            <a:ext cx="10515600" cy="1036320"/>
          </a:xfrm>
        </p:spPr>
        <p:txBody>
          <a:bodyPr/>
          <a:lstStyle/>
          <a:p>
            <a:r>
              <a:rPr lang="en-IN" dirty="0"/>
              <a:t>OUTPUT(SCREEN SHOTS)</a:t>
            </a:r>
          </a:p>
        </p:txBody>
      </p:sp>
      <p:sp>
        <p:nvSpPr>
          <p:cNvPr id="3" name="Table Placeholder 2">
            <a:extLst>
              <a:ext uri="{FF2B5EF4-FFF2-40B4-BE49-F238E27FC236}">
                <a16:creationId xmlns:a16="http://schemas.microsoft.com/office/drawing/2014/main" id="{86F78A57-9A31-F9D3-543B-FF5E79FBDD75}"/>
              </a:ext>
            </a:extLst>
          </p:cNvPr>
          <p:cNvSpPr>
            <a:spLocks noGrp="1"/>
          </p:cNvSpPr>
          <p:nvPr>
            <p:ph type="tbl" sz="quarter" idx="14"/>
          </p:nvPr>
        </p:nvSpPr>
        <p:spPr/>
      </p:sp>
      <p:sp>
        <p:nvSpPr>
          <p:cNvPr id="4" name="Slide Number Placeholder 3">
            <a:extLst>
              <a:ext uri="{FF2B5EF4-FFF2-40B4-BE49-F238E27FC236}">
                <a16:creationId xmlns:a16="http://schemas.microsoft.com/office/drawing/2014/main" id="{8CAE573D-C048-0064-AC3F-284A5CE08C65}"/>
              </a:ext>
            </a:extLst>
          </p:cNvPr>
          <p:cNvSpPr>
            <a:spLocks noGrp="1"/>
          </p:cNvSpPr>
          <p:nvPr>
            <p:ph type="sldNum" sz="quarter" idx="12"/>
          </p:nvPr>
        </p:nvSpPr>
        <p:spPr/>
        <p:txBody>
          <a:bodyPr/>
          <a:lstStyle/>
          <a:p>
            <a:fld id="{A49DFD55-3C28-40EF-9E31-A92D2E4017FF}" type="slidenum">
              <a:rPr lang="en-US" smtClean="0"/>
              <a:pPr/>
              <a:t>15</a:t>
            </a:fld>
            <a:endParaRPr lang="en-US" dirty="0"/>
          </a:p>
        </p:txBody>
      </p:sp>
      <p:sp>
        <p:nvSpPr>
          <p:cNvPr id="7" name="Content Placeholder 35">
            <a:extLst>
              <a:ext uri="{FF2B5EF4-FFF2-40B4-BE49-F238E27FC236}">
                <a16:creationId xmlns:a16="http://schemas.microsoft.com/office/drawing/2014/main" id="{511A39A8-0D0A-5294-0994-F61A9E6C0F45}"/>
              </a:ext>
            </a:extLst>
          </p:cNvPr>
          <p:cNvSpPr txBox="1">
            <a:spLocks/>
          </p:cNvSpPr>
          <p:nvPr/>
        </p:nvSpPr>
        <p:spPr>
          <a:xfrm>
            <a:off x="487680" y="897205"/>
            <a:ext cx="3738880" cy="55690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latin typeface="Times New Roman" panose="02020603050405020304" pitchFamily="18" charset="0"/>
                <a:cs typeface="Times New Roman" panose="02020603050405020304" pitchFamily="18" charset="0"/>
              </a:rPr>
              <a:t>3. Sprint Creation</a:t>
            </a: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D78B941-BA8A-23FA-C25A-EC6309B024CC}"/>
              </a:ext>
            </a:extLst>
          </p:cNvPr>
          <p:cNvPicPr>
            <a:picLocks noChangeAspect="1"/>
          </p:cNvPicPr>
          <p:nvPr/>
        </p:nvPicPr>
        <p:blipFill>
          <a:blip r:embed="rId2"/>
          <a:stretch>
            <a:fillRect/>
          </a:stretch>
        </p:blipFill>
        <p:spPr>
          <a:xfrm>
            <a:off x="487680" y="1454106"/>
            <a:ext cx="11084560" cy="5107438"/>
          </a:xfrm>
          <a:prstGeom prst="rect">
            <a:avLst/>
          </a:prstGeom>
        </p:spPr>
      </p:pic>
    </p:spTree>
    <p:extLst>
      <p:ext uri="{BB962C8B-B14F-4D97-AF65-F5344CB8AC3E}">
        <p14:creationId xmlns:p14="http://schemas.microsoft.com/office/powerpoint/2010/main" val="17429109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E5B8F-86DD-51D3-E99A-FAC69FD77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240F1-B6C9-A5A6-96EE-E6C6DC5899A8}"/>
              </a:ext>
            </a:extLst>
          </p:cNvPr>
          <p:cNvSpPr>
            <a:spLocks noGrp="1"/>
          </p:cNvSpPr>
          <p:nvPr>
            <p:ph type="title"/>
          </p:nvPr>
        </p:nvSpPr>
        <p:spPr>
          <a:xfrm>
            <a:off x="838200" y="-345439"/>
            <a:ext cx="10515600" cy="1036320"/>
          </a:xfrm>
        </p:spPr>
        <p:txBody>
          <a:bodyPr/>
          <a:lstStyle/>
          <a:p>
            <a:r>
              <a:rPr lang="en-IN" dirty="0"/>
              <a:t>OUTPUT(SCREEN SHOTS)</a:t>
            </a:r>
          </a:p>
        </p:txBody>
      </p:sp>
      <p:sp>
        <p:nvSpPr>
          <p:cNvPr id="3" name="Table Placeholder 2">
            <a:extLst>
              <a:ext uri="{FF2B5EF4-FFF2-40B4-BE49-F238E27FC236}">
                <a16:creationId xmlns:a16="http://schemas.microsoft.com/office/drawing/2014/main" id="{19244A3F-12F0-8E7A-AA16-0436F8F7849C}"/>
              </a:ext>
            </a:extLst>
          </p:cNvPr>
          <p:cNvSpPr>
            <a:spLocks noGrp="1"/>
          </p:cNvSpPr>
          <p:nvPr>
            <p:ph type="tbl" sz="quarter" idx="14"/>
          </p:nvPr>
        </p:nvSpPr>
        <p:spPr/>
      </p:sp>
      <p:sp>
        <p:nvSpPr>
          <p:cNvPr id="4" name="Slide Number Placeholder 3">
            <a:extLst>
              <a:ext uri="{FF2B5EF4-FFF2-40B4-BE49-F238E27FC236}">
                <a16:creationId xmlns:a16="http://schemas.microsoft.com/office/drawing/2014/main" id="{EE2C0830-3B54-7971-5488-7664532F9C6A}"/>
              </a:ext>
            </a:extLst>
          </p:cNvPr>
          <p:cNvSpPr>
            <a:spLocks noGrp="1"/>
          </p:cNvSpPr>
          <p:nvPr>
            <p:ph type="sldNum" sz="quarter" idx="12"/>
          </p:nvPr>
        </p:nvSpPr>
        <p:spPr/>
        <p:txBody>
          <a:bodyPr/>
          <a:lstStyle/>
          <a:p>
            <a:fld id="{A49DFD55-3C28-40EF-9E31-A92D2E4017FF}" type="slidenum">
              <a:rPr lang="en-US" smtClean="0"/>
              <a:pPr/>
              <a:t>16</a:t>
            </a:fld>
            <a:endParaRPr lang="en-US" dirty="0"/>
          </a:p>
        </p:txBody>
      </p:sp>
      <p:sp>
        <p:nvSpPr>
          <p:cNvPr id="7" name="Content Placeholder 35">
            <a:extLst>
              <a:ext uri="{FF2B5EF4-FFF2-40B4-BE49-F238E27FC236}">
                <a16:creationId xmlns:a16="http://schemas.microsoft.com/office/drawing/2014/main" id="{C9A74197-042F-34C9-8211-75C94224422B}"/>
              </a:ext>
            </a:extLst>
          </p:cNvPr>
          <p:cNvSpPr txBox="1">
            <a:spLocks/>
          </p:cNvSpPr>
          <p:nvPr/>
        </p:nvSpPr>
        <p:spPr>
          <a:xfrm>
            <a:off x="487680" y="897205"/>
            <a:ext cx="3738880" cy="55690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latin typeface="Times New Roman" panose="02020603050405020304" pitchFamily="18" charset="0"/>
                <a:cs typeface="Times New Roman" panose="02020603050405020304" pitchFamily="18" charset="0"/>
              </a:rPr>
              <a:t>4. Task Progress</a:t>
            </a:r>
            <a:endParaRPr lang="en-US"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98A7E4A-D219-8F14-E9EF-F3DADE4DA02C}"/>
              </a:ext>
            </a:extLst>
          </p:cNvPr>
          <p:cNvPicPr>
            <a:picLocks noChangeAspect="1"/>
          </p:cNvPicPr>
          <p:nvPr/>
        </p:nvPicPr>
        <p:blipFill>
          <a:blip r:embed="rId2"/>
          <a:stretch>
            <a:fillRect/>
          </a:stretch>
        </p:blipFill>
        <p:spPr>
          <a:xfrm>
            <a:off x="487680" y="1660430"/>
            <a:ext cx="11074400" cy="4609515"/>
          </a:xfrm>
          <a:prstGeom prst="rect">
            <a:avLst/>
          </a:prstGeom>
        </p:spPr>
      </p:pic>
    </p:spTree>
    <p:extLst>
      <p:ext uri="{BB962C8B-B14F-4D97-AF65-F5344CB8AC3E}">
        <p14:creationId xmlns:p14="http://schemas.microsoft.com/office/powerpoint/2010/main" val="2719414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206A8-172A-2EF8-2E75-0979166592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090A79-8468-59A8-28C6-7EED42375FBF}"/>
              </a:ext>
            </a:extLst>
          </p:cNvPr>
          <p:cNvSpPr>
            <a:spLocks noGrp="1"/>
          </p:cNvSpPr>
          <p:nvPr>
            <p:ph type="title"/>
          </p:nvPr>
        </p:nvSpPr>
        <p:spPr>
          <a:xfrm>
            <a:off x="838200" y="-345439"/>
            <a:ext cx="10515600" cy="1036320"/>
          </a:xfrm>
        </p:spPr>
        <p:txBody>
          <a:bodyPr/>
          <a:lstStyle/>
          <a:p>
            <a:r>
              <a:rPr lang="en-IN" dirty="0"/>
              <a:t>OUTPUT(SCREEN SHOTS)</a:t>
            </a:r>
          </a:p>
        </p:txBody>
      </p:sp>
      <p:sp>
        <p:nvSpPr>
          <p:cNvPr id="3" name="Table Placeholder 2">
            <a:extLst>
              <a:ext uri="{FF2B5EF4-FFF2-40B4-BE49-F238E27FC236}">
                <a16:creationId xmlns:a16="http://schemas.microsoft.com/office/drawing/2014/main" id="{DB9C9E16-5569-BD9B-3CBB-241D38B1AB32}"/>
              </a:ext>
            </a:extLst>
          </p:cNvPr>
          <p:cNvSpPr>
            <a:spLocks noGrp="1"/>
          </p:cNvSpPr>
          <p:nvPr>
            <p:ph type="tbl" sz="quarter" idx="14"/>
          </p:nvPr>
        </p:nvSpPr>
        <p:spPr/>
      </p:sp>
      <p:sp>
        <p:nvSpPr>
          <p:cNvPr id="4" name="Slide Number Placeholder 3">
            <a:extLst>
              <a:ext uri="{FF2B5EF4-FFF2-40B4-BE49-F238E27FC236}">
                <a16:creationId xmlns:a16="http://schemas.microsoft.com/office/drawing/2014/main" id="{B8122A13-D3F6-E7F3-CADA-B0FDD1995056}"/>
              </a:ext>
            </a:extLst>
          </p:cNvPr>
          <p:cNvSpPr>
            <a:spLocks noGrp="1"/>
          </p:cNvSpPr>
          <p:nvPr>
            <p:ph type="sldNum" sz="quarter" idx="12"/>
          </p:nvPr>
        </p:nvSpPr>
        <p:spPr/>
        <p:txBody>
          <a:bodyPr/>
          <a:lstStyle/>
          <a:p>
            <a:fld id="{A49DFD55-3C28-40EF-9E31-A92D2E4017FF}" type="slidenum">
              <a:rPr lang="en-US" smtClean="0"/>
              <a:pPr/>
              <a:t>17</a:t>
            </a:fld>
            <a:endParaRPr lang="en-US" dirty="0"/>
          </a:p>
        </p:txBody>
      </p:sp>
      <p:sp>
        <p:nvSpPr>
          <p:cNvPr id="7" name="Content Placeholder 35">
            <a:extLst>
              <a:ext uri="{FF2B5EF4-FFF2-40B4-BE49-F238E27FC236}">
                <a16:creationId xmlns:a16="http://schemas.microsoft.com/office/drawing/2014/main" id="{CEE43574-6CAC-39F8-5519-4A039DD920BB}"/>
              </a:ext>
            </a:extLst>
          </p:cNvPr>
          <p:cNvSpPr txBox="1">
            <a:spLocks/>
          </p:cNvSpPr>
          <p:nvPr/>
        </p:nvSpPr>
        <p:spPr>
          <a:xfrm>
            <a:off x="487680" y="897205"/>
            <a:ext cx="3738880" cy="55690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latin typeface="Times New Roman" panose="02020603050405020304" pitchFamily="18" charset="0"/>
                <a:cs typeface="Times New Roman" panose="02020603050405020304" pitchFamily="18" charset="0"/>
              </a:rPr>
              <a:t>5. Sprint Completed</a:t>
            </a: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3D458FB-BFAB-9B02-A9C0-D5DDA05CE0AB}"/>
              </a:ext>
            </a:extLst>
          </p:cNvPr>
          <p:cNvPicPr>
            <a:picLocks noChangeAspect="1"/>
          </p:cNvPicPr>
          <p:nvPr/>
        </p:nvPicPr>
        <p:blipFill>
          <a:blip r:embed="rId2"/>
          <a:stretch>
            <a:fillRect/>
          </a:stretch>
        </p:blipFill>
        <p:spPr>
          <a:xfrm>
            <a:off x="701040" y="1660430"/>
            <a:ext cx="10789920" cy="4669249"/>
          </a:xfrm>
          <a:prstGeom prst="rect">
            <a:avLst/>
          </a:prstGeom>
        </p:spPr>
      </p:pic>
    </p:spTree>
    <p:extLst>
      <p:ext uri="{BB962C8B-B14F-4D97-AF65-F5344CB8AC3E}">
        <p14:creationId xmlns:p14="http://schemas.microsoft.com/office/powerpoint/2010/main" val="2070567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9140014-73D5-419B-8867-972BB18D52D4}"/>
              </a:ext>
            </a:extLst>
          </p:cNvPr>
          <p:cNvSpPr>
            <a:spLocks noGrp="1"/>
          </p:cNvSpPr>
          <p:nvPr>
            <p:ph type="title"/>
          </p:nvPr>
        </p:nvSpPr>
        <p:spPr>
          <a:xfrm>
            <a:off x="360679" y="741680"/>
            <a:ext cx="5655197" cy="792480"/>
          </a:xfrm>
        </p:spPr>
        <p:txBody>
          <a:bodyPr anchor="b">
            <a:normAutofit/>
          </a:bodyPr>
          <a:lstStyle/>
          <a:p>
            <a:r>
              <a:rPr lang="en-IN" dirty="0"/>
              <a:t>Results</a:t>
            </a:r>
            <a:endParaRPr lang="en-US" dirty="0"/>
          </a:p>
        </p:txBody>
      </p:sp>
      <p:sp>
        <p:nvSpPr>
          <p:cNvPr id="20" name="Content Placeholder 3">
            <a:extLst>
              <a:ext uri="{FF2B5EF4-FFF2-40B4-BE49-F238E27FC236}">
                <a16:creationId xmlns:a16="http://schemas.microsoft.com/office/drawing/2014/main" id="{33D8731E-4977-402E-8BFD-895B4D0544CC}"/>
              </a:ext>
            </a:extLst>
          </p:cNvPr>
          <p:cNvSpPr>
            <a:spLocks noGrp="1"/>
          </p:cNvSpPr>
          <p:nvPr>
            <p:ph sz="half" idx="2"/>
          </p:nvPr>
        </p:nvSpPr>
        <p:spPr>
          <a:xfrm>
            <a:off x="360679" y="1706880"/>
            <a:ext cx="10515601" cy="5527040"/>
          </a:xfrm>
        </p:spPr>
        <p:txBody>
          <a:bodyPr>
            <a:noAutofit/>
          </a:bodyPr>
          <a:lstStyle/>
          <a:p>
            <a:pPr marL="0" indent="0">
              <a:buNone/>
            </a:pPr>
            <a:r>
              <a:rPr lang="en-IN" b="1" dirty="0"/>
              <a:t>Successful Product Planning</a:t>
            </a:r>
          </a:p>
          <a:p>
            <a:r>
              <a:rPr lang="en-IN" dirty="0"/>
              <a:t>The product requirements were successfully </a:t>
            </a:r>
            <a:r>
              <a:rPr lang="en-IN" dirty="0" err="1"/>
              <a:t>analyzed</a:t>
            </a:r>
            <a:r>
              <a:rPr lang="en-IN" dirty="0"/>
              <a:t>, prioritized, and organized into a structured Product Backlog, ensuring that the most valuable features were identified and planned for development.</a:t>
            </a:r>
          </a:p>
          <a:p>
            <a:pPr marL="0" indent="0">
              <a:buNone/>
            </a:pPr>
            <a:r>
              <a:rPr lang="en-IN" b="1" dirty="0"/>
              <a:t>Effective Agile Scrum Execution</a:t>
            </a:r>
          </a:p>
          <a:p>
            <a:r>
              <a:rPr lang="en-IN" dirty="0"/>
              <a:t>The project was executed using the Agile Scrum methodology with sprint planning, backlog management, and Scrum Board tracking, enabling systematic development and continuous progress monitoring.</a:t>
            </a:r>
          </a:p>
          <a:p>
            <a:pPr marL="0" indent="0">
              <a:buNone/>
            </a:pPr>
            <a:r>
              <a:rPr lang="en-IN" b="1" dirty="0"/>
              <a:t>Improved Project Management and Collaboration</a:t>
            </a:r>
          </a:p>
          <a:p>
            <a:r>
              <a:rPr lang="en-IN" dirty="0"/>
              <a:t>Using Jira helped streamline task management, prioritize user stories, track sprint progress, and improve collaboration and transparency throughout the product development lifecycle.</a:t>
            </a:r>
          </a:p>
          <a:p>
            <a:pPr marL="0" indent="0">
              <a:buNone/>
            </a:pPr>
            <a:r>
              <a:rPr lang="en-IN" b="1" dirty="0"/>
              <a:t>MVP Delivery and Future Scalability</a:t>
            </a:r>
          </a:p>
          <a:p>
            <a:r>
              <a:rPr lang="en-IN" dirty="0"/>
              <a:t>A well-defined Minimum Viable Product (MVP) was successfully planned with core features, and a scalable product roadmap was prepared to support future enhancements and continuous product improvement.</a:t>
            </a:r>
          </a:p>
          <a:p>
            <a:endParaRPr lang="en-US" dirty="0"/>
          </a:p>
        </p:txBody>
      </p:sp>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18</a:t>
            </a:fld>
            <a:endParaRPr lang="en-US" dirty="0"/>
          </a:p>
        </p:txBody>
      </p:sp>
    </p:spTree>
    <p:extLst>
      <p:ext uri="{BB962C8B-B14F-4D97-AF65-F5344CB8AC3E}">
        <p14:creationId xmlns:p14="http://schemas.microsoft.com/office/powerpoint/2010/main" val="2403577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72A3D-D2DC-BEA2-CAC2-684949FA5583}"/>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68C879F0-7072-6A78-E799-76EF4D98AB5E}"/>
              </a:ext>
            </a:extLst>
          </p:cNvPr>
          <p:cNvSpPr>
            <a:spLocks noGrp="1"/>
          </p:cNvSpPr>
          <p:nvPr>
            <p:ph type="title"/>
          </p:nvPr>
        </p:nvSpPr>
        <p:spPr>
          <a:xfrm>
            <a:off x="360679" y="1158240"/>
            <a:ext cx="5655197" cy="792480"/>
          </a:xfrm>
        </p:spPr>
        <p:txBody>
          <a:bodyPr anchor="b">
            <a:normAutofit/>
          </a:bodyPr>
          <a:lstStyle/>
          <a:p>
            <a:r>
              <a:rPr lang="en-IN" dirty="0"/>
              <a:t>Conclusion</a:t>
            </a:r>
            <a:endParaRPr lang="en-US" dirty="0"/>
          </a:p>
        </p:txBody>
      </p:sp>
      <p:sp>
        <p:nvSpPr>
          <p:cNvPr id="20" name="Content Placeholder 3">
            <a:extLst>
              <a:ext uri="{FF2B5EF4-FFF2-40B4-BE49-F238E27FC236}">
                <a16:creationId xmlns:a16="http://schemas.microsoft.com/office/drawing/2014/main" id="{540562C0-AC23-B949-CD04-11BA814D6DBA}"/>
              </a:ext>
            </a:extLst>
          </p:cNvPr>
          <p:cNvSpPr>
            <a:spLocks noGrp="1"/>
          </p:cNvSpPr>
          <p:nvPr>
            <p:ph sz="half" idx="2"/>
          </p:nvPr>
        </p:nvSpPr>
        <p:spPr>
          <a:xfrm>
            <a:off x="360679" y="2245361"/>
            <a:ext cx="10515601" cy="5527040"/>
          </a:xfrm>
        </p:spPr>
        <p:txBody>
          <a:bodyPr>
            <a:noAutofit/>
          </a:bodyPr>
          <a:lstStyle/>
          <a:p>
            <a:r>
              <a:rPr lang="en-IN" dirty="0"/>
              <a:t>The project successfully demonstrated the application of </a:t>
            </a:r>
            <a:r>
              <a:rPr lang="en-IN" b="1" dirty="0"/>
              <a:t>Agile Scrum methodology</a:t>
            </a:r>
            <a:r>
              <a:rPr lang="en-IN" dirty="0"/>
              <a:t> in planning and managing a product from concept to execution using Jira.</a:t>
            </a:r>
          </a:p>
          <a:p>
            <a:endParaRPr lang="en-IN" b="1" dirty="0"/>
          </a:p>
          <a:p>
            <a:r>
              <a:rPr lang="en-IN" dirty="0"/>
              <a:t>By implementing product management practices such as backlog prioritization, sprint planning, and user story creation, the project ensured an organized and efficient development process</a:t>
            </a:r>
          </a:p>
          <a:p>
            <a:r>
              <a:rPr lang="en-IN" dirty="0"/>
              <a:t>.</a:t>
            </a:r>
            <a:endParaRPr lang="en-IN" b="1" dirty="0"/>
          </a:p>
          <a:p>
            <a:r>
              <a:rPr lang="en-IN" dirty="0"/>
              <a:t>The project highlighted the importance of continuous feedback, collaboration, and iterative improvements in delivering a user-focused and high-value product.</a:t>
            </a:r>
          </a:p>
          <a:p>
            <a:endParaRPr lang="en-IN" b="1" dirty="0"/>
          </a:p>
          <a:p>
            <a:r>
              <a:rPr lang="en-IN" dirty="0"/>
              <a:t>Overall, the project enhanced practical knowledge of Product Management, Agile methodologies, and Jira, providing a strong foundation for managing real-world software products and future product development initiatives.</a:t>
            </a:r>
          </a:p>
          <a:p>
            <a:pPr marL="0" indent="0">
              <a:buNone/>
            </a:pPr>
            <a:endParaRPr lang="en-US" dirty="0"/>
          </a:p>
        </p:txBody>
      </p:sp>
      <p:sp>
        <p:nvSpPr>
          <p:cNvPr id="9" name="Slide Number Placeholder 8">
            <a:extLst>
              <a:ext uri="{FF2B5EF4-FFF2-40B4-BE49-F238E27FC236}">
                <a16:creationId xmlns:a16="http://schemas.microsoft.com/office/drawing/2014/main" id="{B178F543-77A0-B1F2-FE47-E1F99F5634CA}"/>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19</a:t>
            </a:fld>
            <a:endParaRPr lang="en-US" dirty="0"/>
          </a:p>
        </p:txBody>
      </p:sp>
    </p:spTree>
    <p:extLst>
      <p:ext uri="{BB962C8B-B14F-4D97-AF65-F5344CB8AC3E}">
        <p14:creationId xmlns:p14="http://schemas.microsoft.com/office/powerpoint/2010/main" val="2645346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3E5FEE2D-79E5-4C1D-8BF7-EE619CA7039A}"/>
              </a:ext>
            </a:extLst>
          </p:cNvPr>
          <p:cNvSpPr>
            <a:spLocks noGrp="1"/>
          </p:cNvSpPr>
          <p:nvPr>
            <p:ph type="title"/>
          </p:nvPr>
        </p:nvSpPr>
        <p:spPr>
          <a:xfrm>
            <a:off x="289560" y="415963"/>
            <a:ext cx="10515600" cy="1325563"/>
          </a:xfrm>
        </p:spPr>
        <p:txBody>
          <a:bodyPr anchor="b"/>
          <a:lstStyle/>
          <a:p>
            <a:pPr algn="l"/>
            <a:r>
              <a:rPr lang="en-IN" dirty="0"/>
              <a:t>Future Scope</a:t>
            </a:r>
            <a:endParaRPr lang="en-US" dirty="0"/>
          </a:p>
        </p:txBody>
      </p:sp>
      <p:sp>
        <p:nvSpPr>
          <p:cNvPr id="5" name="Slide Number Placeholder 5">
            <a:extLst>
              <a:ext uri="{FF2B5EF4-FFF2-40B4-BE49-F238E27FC236}">
                <a16:creationId xmlns:a16="http://schemas.microsoft.com/office/drawing/2014/main" id="{4832B776-E386-1CF9-CC8F-2D2FF3EA7066}"/>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20</a:t>
            </a:fld>
            <a:endParaRPr lang="en-US" dirty="0"/>
          </a:p>
        </p:txBody>
      </p:sp>
      <p:sp>
        <p:nvSpPr>
          <p:cNvPr id="6" name="TextBox 5">
            <a:extLst>
              <a:ext uri="{FF2B5EF4-FFF2-40B4-BE49-F238E27FC236}">
                <a16:creationId xmlns:a16="http://schemas.microsoft.com/office/drawing/2014/main" id="{EA940A13-FC6C-9666-4865-20E465D6C3C4}"/>
              </a:ext>
            </a:extLst>
          </p:cNvPr>
          <p:cNvSpPr txBox="1"/>
          <p:nvPr/>
        </p:nvSpPr>
        <p:spPr>
          <a:xfrm>
            <a:off x="289560" y="1925279"/>
            <a:ext cx="11612880" cy="4247317"/>
          </a:xfrm>
          <a:prstGeom prst="rect">
            <a:avLst/>
          </a:prstGeom>
          <a:noFill/>
        </p:spPr>
        <p:txBody>
          <a:bodyPr wrap="square">
            <a:spAutoFit/>
          </a:bodyPr>
          <a:lstStyle/>
          <a:p>
            <a:pPr>
              <a:buNone/>
            </a:pPr>
            <a:r>
              <a:rPr lang="en-IN" b="1" dirty="0"/>
              <a:t>1. AI-Powered Personalized Recommendations</a:t>
            </a:r>
          </a:p>
          <a:p>
            <a:pPr>
              <a:buNone/>
            </a:pPr>
            <a:r>
              <a:rPr lang="en-IN" dirty="0"/>
              <a:t>Enhance the recommendation engine using advanced AI and machine learning to provide more accurate and personalized career guidance based on user skills, interests, and learning patterns.</a:t>
            </a:r>
          </a:p>
          <a:p>
            <a:pPr>
              <a:buNone/>
            </a:pPr>
            <a:r>
              <a:rPr lang="en-IN" b="1" dirty="0"/>
              <a:t>2. Integration with Job Portals</a:t>
            </a:r>
          </a:p>
          <a:p>
            <a:pPr>
              <a:buNone/>
            </a:pPr>
            <a:r>
              <a:rPr lang="en-IN" dirty="0"/>
              <a:t>Connect the platform with popular job portals to recommend relevant job opportunities, internships, and placement drives based on the user's profile.</a:t>
            </a:r>
          </a:p>
          <a:p>
            <a:pPr>
              <a:buNone/>
            </a:pPr>
            <a:r>
              <a:rPr lang="en-IN" b="1" dirty="0"/>
              <a:t>3. Skill Assessment and Certification</a:t>
            </a:r>
          </a:p>
          <a:p>
            <a:pPr>
              <a:buNone/>
            </a:pPr>
            <a:r>
              <a:rPr lang="en-IN" dirty="0"/>
              <a:t>Introduce advanced skill assessment tests and integrate certification platforms to help users validate and improve their technical and professional skills.</a:t>
            </a:r>
          </a:p>
          <a:p>
            <a:pPr>
              <a:buNone/>
            </a:pPr>
            <a:r>
              <a:rPr lang="en-IN" b="1" dirty="0"/>
              <a:t>4. Real-Time Career Analytics</a:t>
            </a:r>
          </a:p>
          <a:p>
            <a:pPr>
              <a:buNone/>
            </a:pPr>
            <a:r>
              <a:rPr lang="en-IN" dirty="0"/>
              <a:t>Develop an analytics dashboard that tracks user progress, career trends, in-demand skills, and personalized performance insights to support informed career decisions.</a:t>
            </a:r>
          </a:p>
          <a:p>
            <a:pPr>
              <a:buNone/>
            </a:pPr>
            <a:r>
              <a:rPr lang="en-IN" b="1" dirty="0"/>
              <a:t>5. Mobile Application and Cloud Deployment</a:t>
            </a:r>
          </a:p>
          <a:p>
            <a:pPr>
              <a:buNone/>
            </a:pPr>
            <a:r>
              <a:rPr lang="en-IN" dirty="0"/>
              <a:t>Expand the platform into a mobile application with cloud-based deployment, enabling users to access career guidance, recommendations, and progress tracking anytime and anywhere.</a:t>
            </a:r>
          </a:p>
        </p:txBody>
      </p:sp>
    </p:spTree>
    <p:extLst>
      <p:ext uri="{BB962C8B-B14F-4D97-AF65-F5344CB8AC3E}">
        <p14:creationId xmlns:p14="http://schemas.microsoft.com/office/powerpoint/2010/main" val="27918217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4F0F7-C73E-AE2A-F8C7-8849892926C6}"/>
            </a:ext>
          </a:extLst>
        </p:cNvPr>
        <p:cNvGrpSpPr/>
        <p:nvPr/>
      </p:nvGrpSpPr>
      <p:grpSpPr>
        <a:xfrm>
          <a:off x="0" y="0"/>
          <a:ext cx="0" cy="0"/>
          <a:chOff x="0" y="0"/>
          <a:chExt cx="0" cy="0"/>
        </a:xfrm>
      </p:grpSpPr>
      <p:sp>
        <p:nvSpPr>
          <p:cNvPr id="8" name="Title 2">
            <a:extLst>
              <a:ext uri="{FF2B5EF4-FFF2-40B4-BE49-F238E27FC236}">
                <a16:creationId xmlns:a16="http://schemas.microsoft.com/office/drawing/2014/main" id="{4C2AF826-3356-1EB0-A1E7-CB4B53685F22}"/>
              </a:ext>
            </a:extLst>
          </p:cNvPr>
          <p:cNvSpPr>
            <a:spLocks noGrp="1"/>
          </p:cNvSpPr>
          <p:nvPr>
            <p:ph type="title"/>
          </p:nvPr>
        </p:nvSpPr>
        <p:spPr>
          <a:xfrm>
            <a:off x="462280" y="-305397"/>
            <a:ext cx="10515600" cy="1325563"/>
          </a:xfrm>
        </p:spPr>
        <p:txBody>
          <a:bodyPr anchor="b"/>
          <a:lstStyle/>
          <a:p>
            <a:pPr algn="l"/>
            <a:r>
              <a:rPr lang="en-IN" dirty="0"/>
              <a:t>References</a:t>
            </a:r>
            <a:endParaRPr lang="en-US" dirty="0"/>
          </a:p>
        </p:txBody>
      </p:sp>
      <p:sp>
        <p:nvSpPr>
          <p:cNvPr id="5" name="Slide Number Placeholder 5">
            <a:extLst>
              <a:ext uri="{FF2B5EF4-FFF2-40B4-BE49-F238E27FC236}">
                <a16:creationId xmlns:a16="http://schemas.microsoft.com/office/drawing/2014/main" id="{2C8DBB82-C4C3-053A-1B32-4122942C129D}"/>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21</a:t>
            </a:fld>
            <a:endParaRPr lang="en-US" dirty="0"/>
          </a:p>
        </p:txBody>
      </p:sp>
      <p:sp>
        <p:nvSpPr>
          <p:cNvPr id="6" name="TextBox 5">
            <a:extLst>
              <a:ext uri="{FF2B5EF4-FFF2-40B4-BE49-F238E27FC236}">
                <a16:creationId xmlns:a16="http://schemas.microsoft.com/office/drawing/2014/main" id="{D4D918A2-80D6-F16F-E8DB-23012EE55B01}"/>
              </a:ext>
            </a:extLst>
          </p:cNvPr>
          <p:cNvSpPr txBox="1"/>
          <p:nvPr/>
        </p:nvSpPr>
        <p:spPr>
          <a:xfrm>
            <a:off x="462280" y="1122639"/>
            <a:ext cx="11612880" cy="5355312"/>
          </a:xfrm>
          <a:prstGeom prst="rect">
            <a:avLst/>
          </a:prstGeom>
          <a:noFill/>
        </p:spPr>
        <p:txBody>
          <a:bodyPr wrap="square">
            <a:spAutoFit/>
          </a:bodyPr>
          <a:lstStyle/>
          <a:p>
            <a:pPr marL="285750" indent="-285750">
              <a:buFont typeface="Arial" panose="020B0604020202020204" pitchFamily="34" charset="0"/>
              <a:buChar char="•"/>
            </a:pPr>
            <a:r>
              <a:rPr lang="en-IN" dirty="0"/>
              <a:t>Atlassian. </a:t>
            </a:r>
            <a:r>
              <a:rPr lang="en-IN" i="1" dirty="0"/>
              <a:t>Jira Software Documentation</a:t>
            </a:r>
            <a:r>
              <a:rPr lang="en-IN" dirty="0"/>
              <a:t>. Available at: </a:t>
            </a:r>
            <a:r>
              <a:rPr lang="en-IN" dirty="0">
                <a:hlinkClick r:id="rId3"/>
              </a:rPr>
              <a:t>https://www.atlassian.com/software/jira</a:t>
            </a:r>
            <a:endParaRPr lang="en-IN" dirty="0"/>
          </a:p>
          <a:p>
            <a:pPr>
              <a:buNone/>
            </a:pPr>
            <a:r>
              <a:rPr lang="en-IN" dirty="0"/>
              <a:t> </a:t>
            </a:r>
          </a:p>
          <a:p>
            <a:pPr marL="285750" indent="-285750">
              <a:buFont typeface="Arial" panose="020B0604020202020204" pitchFamily="34" charset="0"/>
              <a:buChar char="•"/>
            </a:pPr>
            <a:r>
              <a:rPr lang="en-IN" dirty="0"/>
              <a:t>Atlassian. </a:t>
            </a:r>
            <a:r>
              <a:rPr lang="en-IN" i="1" dirty="0"/>
              <a:t>Agile Coach – Scrum Guide and Agile Practices</a:t>
            </a:r>
            <a:r>
              <a:rPr lang="en-IN" dirty="0"/>
              <a:t>. Available at: </a:t>
            </a:r>
            <a:r>
              <a:rPr lang="en-IN" dirty="0">
                <a:hlinkClick r:id="rId4"/>
              </a:rPr>
              <a:t>https://www.atlassian.com/agile</a:t>
            </a:r>
            <a:endParaRPr lang="en-IN" dirty="0"/>
          </a:p>
          <a:p>
            <a:pPr>
              <a:buNone/>
            </a:pPr>
            <a:r>
              <a:rPr lang="en-IN" dirty="0"/>
              <a:t> </a:t>
            </a:r>
          </a:p>
          <a:p>
            <a:pPr marL="285750" indent="-285750">
              <a:buFont typeface="Arial" panose="020B0604020202020204" pitchFamily="34" charset="0"/>
              <a:buChar char="•"/>
            </a:pPr>
            <a:r>
              <a:rPr lang="en-IN" dirty="0"/>
              <a:t>The Scrum Guide. Ken Schwaber &amp; Jeff Sutherland, 2020. </a:t>
            </a:r>
          </a:p>
          <a:p>
            <a:pPr>
              <a:buNone/>
            </a:pPr>
            <a:endParaRPr lang="en-IN" dirty="0"/>
          </a:p>
          <a:p>
            <a:pPr marL="285750" indent="-285750">
              <a:buFont typeface="Arial" panose="020B0604020202020204" pitchFamily="34" charset="0"/>
              <a:buChar char="•"/>
            </a:pPr>
            <a:r>
              <a:rPr lang="en-IN" dirty="0"/>
              <a:t>Inspired: How to Create Tech Products Customers Love. Marty Cagan, 2nd Edition, 2018.</a:t>
            </a:r>
          </a:p>
          <a:p>
            <a:pPr>
              <a:buNone/>
            </a:pPr>
            <a:r>
              <a:rPr lang="en-IN" dirty="0"/>
              <a:t> </a:t>
            </a:r>
          </a:p>
          <a:p>
            <a:pPr marL="285750" indent="-285750">
              <a:buFont typeface="Arial" panose="020B0604020202020204" pitchFamily="34" charset="0"/>
              <a:buChar char="•"/>
            </a:pPr>
            <a:r>
              <a:rPr lang="en-IN" dirty="0"/>
              <a:t>Lean Product and Lean Analytics. Ben </a:t>
            </a:r>
            <a:r>
              <a:rPr lang="en-IN" dirty="0" err="1"/>
              <a:t>Yoskovitz</a:t>
            </a:r>
            <a:r>
              <a:rPr lang="en-IN" dirty="0"/>
              <a:t> &amp; Alistair Croll.</a:t>
            </a:r>
          </a:p>
          <a:p>
            <a:pPr>
              <a:buNone/>
            </a:pPr>
            <a:r>
              <a:rPr lang="en-IN" dirty="0"/>
              <a:t> </a:t>
            </a:r>
          </a:p>
          <a:p>
            <a:pPr marL="285750" indent="-285750">
              <a:buFont typeface="Arial" panose="020B0604020202020204" pitchFamily="34" charset="0"/>
              <a:buChar char="•"/>
            </a:pPr>
            <a:r>
              <a:rPr lang="en-IN" dirty="0"/>
              <a:t>Project Management Institute (PMI). </a:t>
            </a:r>
            <a:r>
              <a:rPr lang="en-IN" i="1" dirty="0"/>
              <a:t>Agile Practice Guide</a:t>
            </a:r>
            <a:r>
              <a:rPr lang="en-IN" dirty="0"/>
              <a:t>. </a:t>
            </a:r>
          </a:p>
          <a:p>
            <a:pPr>
              <a:buNone/>
            </a:pPr>
            <a:endParaRPr lang="en-IN" dirty="0"/>
          </a:p>
          <a:p>
            <a:pPr marL="285750" indent="-285750">
              <a:buFont typeface="Arial" panose="020B0604020202020204" pitchFamily="34" charset="0"/>
              <a:buChar char="•"/>
            </a:pPr>
            <a:r>
              <a:rPr lang="en-IN" dirty="0"/>
              <a:t>Scrum Alliance. Scrum Framework and Best Practices.</a:t>
            </a:r>
          </a:p>
          <a:p>
            <a:pPr>
              <a:buNone/>
            </a:pPr>
            <a:r>
              <a:rPr lang="en-IN" dirty="0"/>
              <a:t> </a:t>
            </a:r>
          </a:p>
          <a:p>
            <a:pPr marL="285750" indent="-285750">
              <a:buFont typeface="Arial" panose="020B0604020202020204" pitchFamily="34" charset="0"/>
              <a:buChar char="•"/>
            </a:pPr>
            <a:r>
              <a:rPr lang="en-IN" dirty="0"/>
              <a:t>International Institute of Business Analysis (IIBA). </a:t>
            </a:r>
            <a:r>
              <a:rPr lang="en-IN" i="1" dirty="0"/>
              <a:t>Business Analysis Body of Knowledge (BABOK® Guide)</a:t>
            </a:r>
            <a:r>
              <a:rPr lang="en-IN" dirty="0"/>
              <a:t>.</a:t>
            </a:r>
          </a:p>
          <a:p>
            <a:pPr>
              <a:buNone/>
            </a:pPr>
            <a:r>
              <a:rPr lang="en-IN" dirty="0"/>
              <a:t> </a:t>
            </a:r>
          </a:p>
          <a:p>
            <a:pPr marL="285750" indent="-285750">
              <a:buFont typeface="Arial" panose="020B0604020202020204" pitchFamily="34" charset="0"/>
              <a:buChar char="•"/>
            </a:pPr>
            <a:r>
              <a:rPr lang="en-IN" dirty="0"/>
              <a:t>Google. </a:t>
            </a:r>
            <a:r>
              <a:rPr lang="en-IN" i="1" dirty="0"/>
              <a:t>Google UX Design &amp; Product Design Learning Resources</a:t>
            </a:r>
            <a:r>
              <a:rPr lang="en-IN" dirty="0"/>
              <a:t>. </a:t>
            </a:r>
          </a:p>
          <a:p>
            <a:pPr>
              <a:buNone/>
            </a:pPr>
            <a:endParaRPr lang="en-IN" dirty="0"/>
          </a:p>
          <a:p>
            <a:pPr marL="285750" indent="-285750">
              <a:buFont typeface="Arial" panose="020B0604020202020204" pitchFamily="34" charset="0"/>
              <a:buChar char="•"/>
            </a:pPr>
            <a:r>
              <a:rPr lang="en-IN" dirty="0"/>
              <a:t>Coursera. Product Management, Agile, and Scrum Learning Resources..</a:t>
            </a:r>
          </a:p>
        </p:txBody>
      </p:sp>
    </p:spTree>
    <p:extLst>
      <p:ext uri="{BB962C8B-B14F-4D97-AF65-F5344CB8AC3E}">
        <p14:creationId xmlns:p14="http://schemas.microsoft.com/office/powerpoint/2010/main" val="3951672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1EDE-5423-435C-B149-87AB1BC22B83}"/>
              </a:ext>
            </a:extLst>
          </p:cNvPr>
          <p:cNvSpPr>
            <a:spLocks noGrp="1"/>
          </p:cNvSpPr>
          <p:nvPr>
            <p:ph type="ctrTitle"/>
          </p:nvPr>
        </p:nvSpPr>
        <p:spPr>
          <a:xfrm>
            <a:off x="4267200" y="1615736"/>
            <a:ext cx="4179570" cy="1524735"/>
          </a:xfrm>
        </p:spPr>
        <p:txBody>
          <a:bodyPr/>
          <a:lstStyle/>
          <a:p>
            <a:r>
              <a:rPr lang="en-US" dirty="0"/>
              <a:t>THANK YOU</a:t>
            </a:r>
          </a:p>
        </p:txBody>
      </p:sp>
      <p:sp>
        <p:nvSpPr>
          <p:cNvPr id="3" name="Subtitle 2">
            <a:extLst>
              <a:ext uri="{FF2B5EF4-FFF2-40B4-BE49-F238E27FC236}">
                <a16:creationId xmlns:a16="http://schemas.microsoft.com/office/drawing/2014/main" id="{AF64C29E-DF30-4DC6-AB95-2016F9A703B6}"/>
              </a:ext>
            </a:extLst>
          </p:cNvPr>
          <p:cNvSpPr>
            <a:spLocks noGrp="1"/>
          </p:cNvSpPr>
          <p:nvPr>
            <p:ph type="subTitle" idx="1"/>
          </p:nvPr>
        </p:nvSpPr>
        <p:spPr>
          <a:xfrm>
            <a:off x="4267200" y="3238103"/>
            <a:ext cx="4179570" cy="2850181"/>
          </a:xfrm>
        </p:spPr>
        <p:txBody>
          <a:bodyPr>
            <a:noAutofit/>
          </a:bodyPr>
          <a:lstStyle/>
          <a:p>
            <a:r>
              <a:rPr lang="en-US" sz="2400" dirty="0"/>
              <a:t>By</a:t>
            </a:r>
          </a:p>
          <a:p>
            <a:r>
              <a:rPr lang="en-US" sz="2400" dirty="0"/>
              <a:t>Nishanth CS</a:t>
            </a:r>
          </a:p>
        </p:txBody>
      </p:sp>
      <p:sp>
        <p:nvSpPr>
          <p:cNvPr id="6" name="Slide Number Placeholder 5">
            <a:extLst>
              <a:ext uri="{FF2B5EF4-FFF2-40B4-BE49-F238E27FC236}">
                <a16:creationId xmlns:a16="http://schemas.microsoft.com/office/drawing/2014/main" id="{4C127D99-645F-4FCF-9573-FDFE2A344FA9}"/>
              </a:ext>
            </a:extLst>
          </p:cNvPr>
          <p:cNvSpPr>
            <a:spLocks noGrp="1"/>
          </p:cNvSpPr>
          <p:nvPr>
            <p:ph type="sldNum" sz="quarter" idx="12"/>
          </p:nvPr>
        </p:nvSpPr>
        <p:spPr>
          <a:xfrm>
            <a:off x="9579428" y="6356350"/>
            <a:ext cx="1774371" cy="365125"/>
          </a:xfrm>
        </p:spPr>
        <p:txBody>
          <a:bodyPr/>
          <a:lstStyle/>
          <a:p>
            <a:fld id="{A49DFD55-3C28-40EF-9E31-A92D2E4017FF}" type="slidenum">
              <a:rPr lang="en-US" smtClean="0"/>
              <a:pPr/>
              <a:t>22</a:t>
            </a:fld>
            <a:endParaRPr lang="en-US" dirty="0"/>
          </a:p>
        </p:txBody>
      </p:sp>
    </p:spTree>
    <p:extLst>
      <p:ext uri="{BB962C8B-B14F-4D97-AF65-F5344CB8AC3E}">
        <p14:creationId xmlns:p14="http://schemas.microsoft.com/office/powerpoint/2010/main" val="1969787568"/>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2.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presentation</Template>
  <TotalTime>502</TotalTime>
  <Words>1450</Words>
  <Application>Microsoft Office PowerPoint</Application>
  <PresentationFormat>Widescreen</PresentationFormat>
  <Paragraphs>165</Paragraphs>
  <Slides>22</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Tenorite</vt:lpstr>
      <vt:lpstr>Times New Roman</vt:lpstr>
      <vt:lpstr>Custom</vt:lpstr>
      <vt:lpstr>AI Career Compass: Product Management Using Jira</vt:lpstr>
      <vt:lpstr>Abstract</vt:lpstr>
      <vt:lpstr>     problem statement</vt:lpstr>
      <vt:lpstr>Objectives</vt:lpstr>
      <vt:lpstr>Existing System</vt:lpstr>
      <vt:lpstr>Methodology: Agile Scrum</vt:lpstr>
      <vt:lpstr>Flowchart</vt:lpstr>
      <vt:lpstr>Agile Scrum Project Management Process</vt:lpstr>
      <vt:lpstr>Agile Scrum Project Management Process</vt:lpstr>
      <vt:lpstr>OUTPUT(SCREEN SHOTS)</vt:lpstr>
      <vt:lpstr>OUTPUT(SCREEN SHOTS)</vt:lpstr>
      <vt:lpstr>OUTPUT(SCREEN SHOTS)</vt:lpstr>
      <vt:lpstr>OUTPUT(SCREEN SHOTS)</vt:lpstr>
      <vt:lpstr>OUTPUT(SCREEN SHOTS)</vt:lpstr>
      <vt:lpstr>OUTPUT(SCREEN SHOTS)</vt:lpstr>
      <vt:lpstr>OUTPUT(SCREEN SHOTS)</vt:lpstr>
      <vt:lpstr>OUTPUT(SCREEN SHOTS)</vt:lpstr>
      <vt:lpstr>Results</vt:lpstr>
      <vt:lpstr>Conclusion</vt:lpstr>
      <vt:lpstr>Future Scope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Nishanth Srinivasan</dc:creator>
  <cp:lastModifiedBy>Nishanth Srinivasan</cp:lastModifiedBy>
  <cp:revision>2</cp:revision>
  <dcterms:created xsi:type="dcterms:W3CDTF">2026-07-02T15:40:15Z</dcterms:created>
  <dcterms:modified xsi:type="dcterms:W3CDTF">2026-07-03T14:43:34Z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